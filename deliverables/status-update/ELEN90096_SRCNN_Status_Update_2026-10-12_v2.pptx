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f4c0de7b8e4937" /><Relationship Type="http://schemas.openxmlformats.org/officeDocument/2006/relationships/extended-properties" Target="/docProps/app.xml" Id="R5ab1930c74cd404e" /><Relationship Type="http://schemas.openxmlformats.org/officeDocument/2006/relationships/officeDocument" Target="/ppt/presentation.xml" Id="Rc55ae53eb97943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e580caceb4f52"/>
  </p:sldMasterIdLst>
  <p:notesMasterIdLst>
    <p:notesMasterId xmlns:r="http://schemas.openxmlformats.org/officeDocument/2006/relationships" r:id="R820ca757b1e34040"/>
  </p:notesMasterIdLst>
  <p:sldIdLst>
    <p:sldId xmlns:r="http://schemas.openxmlformats.org/officeDocument/2006/relationships" id="256" r:id="Ra5f285513f834c6f"/>
    <p:sldId xmlns:r="http://schemas.openxmlformats.org/officeDocument/2006/relationships" id="257" r:id="R61b5e1c0329244f8"/>
    <p:sldId xmlns:r="http://schemas.openxmlformats.org/officeDocument/2006/relationships" id="258" r:id="R0834d2a521d74523"/>
    <p:sldId xmlns:r="http://schemas.openxmlformats.org/officeDocument/2006/relationships" id="259" r:id="R3784c0e1cf5e4cce"/>
    <p:sldId xmlns:r="http://schemas.openxmlformats.org/officeDocument/2006/relationships" id="260" r:id="R827533300dfe4ec1"/>
    <p:sldId xmlns:r="http://schemas.openxmlformats.org/officeDocument/2006/relationships" id="261" r:id="Rafca9ad992c14289"/>
    <p:sldId xmlns:r="http://schemas.openxmlformats.org/officeDocument/2006/relationships" id="262" r:id="R9f6ab6c5bbd24a63"/>
    <p:sldId xmlns:r="http://schemas.openxmlformats.org/officeDocument/2006/relationships" id="263" r:id="Ra3760b6460f049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726539fbf34b89" /><Relationship Type="http://schemas.openxmlformats.org/officeDocument/2006/relationships/slideMaster" Target="/ppt/slideMasters/slideMaster1.xml" Id="R065e580caceb4f52" /><Relationship Type="http://schemas.openxmlformats.org/officeDocument/2006/relationships/notesMaster" Target="/ppt/notesMasters/notesMaster1.xml" Id="R820ca757b1e34040" /><Relationship Type="http://schemas.openxmlformats.org/officeDocument/2006/relationships/presProps" Target="/ppt/presProps.xml" Id="R121129ee635148b4" /><Relationship Type="http://schemas.openxmlformats.org/officeDocument/2006/relationships/tableStyles" Target="/ppt/tableStyles.xml" Id="Rfc821b5032e84a6b" /><Relationship Type="http://schemas.openxmlformats.org/officeDocument/2006/relationships/slide" Target="/ppt/slides/slide1.xml" Id="Ra5f285513f834c6f" /><Relationship Type="http://schemas.openxmlformats.org/officeDocument/2006/relationships/slide" Target="/ppt/slides/slide2.xml" Id="R61b5e1c0329244f8" /><Relationship Type="http://schemas.openxmlformats.org/officeDocument/2006/relationships/slide" Target="/ppt/slides/slide3.xml" Id="R0834d2a521d74523" /><Relationship Type="http://schemas.openxmlformats.org/officeDocument/2006/relationships/slide" Target="/ppt/slides/slide4.xml" Id="R3784c0e1cf5e4cce" /><Relationship Type="http://schemas.openxmlformats.org/officeDocument/2006/relationships/slide" Target="/ppt/slides/slide5.xml" Id="R827533300dfe4ec1" /><Relationship Type="http://schemas.openxmlformats.org/officeDocument/2006/relationships/slide" Target="/ppt/slides/slide6.xml" Id="Rafca9ad992c14289" /><Relationship Type="http://schemas.openxmlformats.org/officeDocument/2006/relationships/slide" Target="/ppt/slides/slide7.xml" Id="R9f6ab6c5bbd24a63" /><Relationship Type="http://schemas.openxmlformats.org/officeDocument/2006/relationships/slide" Target="/ppt/slides/slide8.xml" Id="Ra3760b6460f049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ebc89e00ee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72da3c220435c" /><Relationship Type="http://schemas.openxmlformats.org/officeDocument/2006/relationships/notesMaster" Target="/ppt/notesMasters/notesMaster1.xml" Id="R3e6451382422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1884f8a3a4d51" /><Relationship Type="http://schemas.openxmlformats.org/officeDocument/2006/relationships/notesMaster" Target="/ppt/notesMasters/notesMaster1.xml" Id="R530d77da308244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3e3bd06ba94fa9" /><Relationship Type="http://schemas.openxmlformats.org/officeDocument/2006/relationships/notesMaster" Target="/ppt/notesMasters/notesMaster1.xml" Id="R5a09f6e7b3f4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041108924f461b" /><Relationship Type="http://schemas.openxmlformats.org/officeDocument/2006/relationships/notesMaster" Target="/ppt/notesMasters/notesMaster1.xml" Id="R52c8d56bee0243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18714028d40ca" /><Relationship Type="http://schemas.openxmlformats.org/officeDocument/2006/relationships/notesMaster" Target="/ppt/notesMasters/notesMaster1.xml" Id="Re128363bec6f45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fbbde9f0342af" /><Relationship Type="http://schemas.openxmlformats.org/officeDocument/2006/relationships/notesMaster" Target="/ppt/notesMasters/notesMaster1.xml" Id="R0d10f1233baa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4210714199496c" /><Relationship Type="http://schemas.openxmlformats.org/officeDocument/2006/relationships/notesMaster" Target="/ppt/notesMasters/notesMaster1.xml" Id="R85868ee93107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8c2474cfe44098" /><Relationship Type="http://schemas.openxmlformats.org/officeDocument/2006/relationships/notesMaster" Target="/ppt/notesMasters/notesMaster1.xml" Id="Rfdc70383ddc74b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[成员A]</a:t>
            </a:r>
          </a:p>
          <a:p xmlns:a="http://schemas.openxmlformats.org/drawingml/2006/main">
            <a:r>
              <a:t>Suggested timing: 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介绍项目目标与团队成员。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课程项目说明与 docs/spec.md v1.0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[成员A]</a:t>
            </a:r>
          </a:p>
          <a:p xmlns:a="http://schemas.openxmlformats.org/drawingml/2006/main">
            <a:r>
              <a:t>Suggested timing: 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说明三层结构不可修改。强调 Conv3 没有 ReLU 或 clamp。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docs/spec.md §§3–4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[成员B]</a:t>
            </a:r>
          </a:p>
          <a:p xmlns:a="http://schemas.openxmlformats.org/drawingml/2006/main">
            <a:r>
              <a:t>Suggested timing: 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解释规则计算、权重复用和层间流式化价值。流量是理论下界，不是 AXI 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results/workload-analysis-255x255.md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[成员B]</a:t>
            </a:r>
          </a:p>
          <a:p xmlns:a="http://schemas.openxmlformats.org/drawingml/2006/main">
            <a:r>
              <a:t>Suggested timing: 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解释目标数据路径。强调 HLS 结构仍需工具报告驱动，图中不包含测得的 II 或资源。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plan.md P2.3；results/workload-analysis-255x255.md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[成员C]</a:t>
            </a:r>
          </a:p>
          <a:p xmlns:a="http://schemas.openxmlformats.org/drawingml/2006/main">
            <a:r>
              <a:t>Suggested timing: 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 Golden 不只是能运行，还通过独立实现交叉验证。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plan.md P1；tests/test_srcnn.cpp；tools/cross_validate_golden.py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[成员C]</a:t>
            </a:r>
          </a:p>
          <a:p xmlns:a="http://schemas.openxmlformats.org/drawingml/2006/main">
            <a:r>
              <a:t>Suggested timing: 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柱图采用五套随机向量中每层最差 relative-L2。解释 Q24.8 仍是占位配置。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results/p2_2a-fixed-random.md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[成员A]</a:t>
            </a:r>
          </a:p>
          <a:p xmlns:a="http://schemas.openxmlformats.org/drawingml/2006/main">
            <a:r>
              <a:t>Suggested timing: 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明确汇报边界。不要用 host runtime 或理论值替代 FPGA 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plan.md 完成状态总览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[成员B]</a:t>
            </a:r>
          </a:p>
          <a:p xmlns:a="http://schemas.openxmlformats.org/drawingml/2006/main">
            <a:r>
              <a:t>Suggested timing: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总结关键路径。预期结果只描述交付范围，不承诺尚未测得的 speedup。随后进入问答。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plan.md 当前停止点与下一允许动作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020d58c9746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4e4a2fdad4120" /><Relationship Type="http://schemas.openxmlformats.org/officeDocument/2006/relationships/slideLayout" Target="/ppt/slideLayouts/slideLayout1.xml" Id="Rad3a1a7ddced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a1a7ddced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2bcb7127c4723" /><Relationship Type="http://schemas.openxmlformats.org/officeDocument/2006/relationships/notesSlide" Target="/ppt/notesSlides/notesSlide1.xml" Id="R76818ee9b14f4d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e6a6babb4a00" /><Relationship Type="http://schemas.openxmlformats.org/officeDocument/2006/relationships/notesSlide" Target="/ppt/notesSlides/notesSlide2.xml" Id="R8e4886700ddc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adf7d76b844a3" /><Relationship Type="http://schemas.openxmlformats.org/officeDocument/2006/relationships/chart" Target="/ppt/slides/charts/chart1.xml" Id="R5372137932e24535" /><Relationship Type="http://schemas.openxmlformats.org/officeDocument/2006/relationships/notesSlide" Target="/ppt/notesSlides/notesSlide3.xml" Id="Rfbd91d76b79c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3797e3af743ab" /><Relationship Type="http://schemas.openxmlformats.org/officeDocument/2006/relationships/notesSlide" Target="/ppt/notesSlides/notesSlide4.xml" Id="Rd14cfc66c43e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841c49fd04f1a" /><Relationship Type="http://schemas.openxmlformats.org/officeDocument/2006/relationships/notesSlide" Target="/ppt/notesSlides/notesSlide5.xml" Id="R3b346656bfcf41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58c3de6aa4338" /><Relationship Type="http://schemas.openxmlformats.org/officeDocument/2006/relationships/chart" Target="/ppt/slides/charts/chart2.xml" Id="R9357134214854314" /><Relationship Type="http://schemas.openxmlformats.org/officeDocument/2006/relationships/notesSlide" Target="/ppt/notesSlides/notesSlide6.xml" Id="Rb0f803a577db45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9d8cde77c4a32" /><Relationship Type="http://schemas.openxmlformats.org/officeDocument/2006/relationships/notesSlide" Target="/ppt/notesSlides/notesSlide7.xml" Id="R4e67099e5e77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ffcdec644bbe" /><Relationship Type="http://schemas.openxmlformats.org/officeDocument/2006/relationships/notesSlide" Target="/ppt/notesSlides/notesSlide8.xml" Id="R96eec6af4d6f458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MAC / frame (million)</c:v>
          </c:tx>
          <c:spPr>
            <a:solidFill xmlns:a="http://schemas.openxmlformats.org/drawingml/2006/main">
              <a:srgbClr val="13A99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273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9A1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9494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337.0896</c:v>
                </c:pt>
                <c:pt idx="1">
                  <c:v>133.1712</c:v>
                </c:pt>
                <c:pt idx="2">
                  <c:v>52.02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52536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B"/>
        </a:solidFill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Worst relative L2 (%)</c:v>
          </c:tx>
          <c:spPr>
            <a:solidFill xmlns:a="http://schemas.openxmlformats.org/drawingml/2006/main">
              <a:srgbClr val="13A99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273B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E99A1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94949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Conv1</c:v>
                </c:pt>
                <c:pt idx="1">
                  <c:v>Conv2</c:v>
                </c:pt>
                <c:pt idx="2">
                  <c:v>Conv3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0.2756</c:v>
                </c:pt>
                <c:pt idx="1">
                  <c:v>0.35468</c:v>
                </c:pt>
                <c:pt idx="2">
                  <c:v>0.62282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52536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E6B78"/>
                    </a:solidFill>
                    <a:latin typeface="PingFang SC"/>
                    <a:ea typeface="PingFang SC"/>
                    <a:cs typeface="PingFang SC"/>
                  </a:rPr>
                  <a:t>relative L2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E6B78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485B7-F8EB-402D-B83B-4E471989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66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F6F17-B5FA-44AB-8F98-E732D81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23950"/>
            <a:ext cx="866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SRCNN 图像超分辨率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Vitis HLS 加速器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19122-AD2D-4E36-B668-D4F7837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BD3E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BD3E3"/>
                </a:solidFill>
                <a:latin typeface="PingFang SC"/>
                <a:ea typeface="PingFang SC"/>
                <a:cs typeface="PingFang SC"/>
              </a:rPr>
              <a:t>ELEN90096 Hardware Accelerated Computing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00BB0-B8D6-4524-B05F-A1AC10E7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项目进度汇报 · 2026年10月12日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B9AAB-E0B6-4451-B6E3-B84B13E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团队成员：[成员A]  [成员B]  [成员C]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601FA-13B5-4B57-BF7D-A20360C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AEB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BAEBD"/>
                </a:solidFill>
                <a:latin typeface="PingFang SC"/>
                <a:ea typeface="PingFang SC"/>
                <a:cs typeface="PingFang SC"/>
              </a:rPr>
              <a:t>Kria KV260 · PYNQ · AXI DMA</a:t>
            </a:r>
          </a:p>
        </p:txBody>
      </p:sp>
    </p:spTree>
    <p:extLst>
      <p:ext uri="{BB962C8B-B14F-4D97-AF65-F5344CB8AC3E}">
        <p14:creationId xmlns:p14="http://schemas.microsoft.com/office/powerpoint/2010/main" val="507394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6319CA-23F1-4344-BF2A-DE45AE1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算法与固定网络结构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D72CA-15AA-4A86-B173-1496B9CE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77296-EB71-4236-B3AA-9DA414A0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输入已经 bicubic 上采样，网络只执行三层 SRCNN 推理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A4E0B-50DC-43AA-884A-73D05AC0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EEF9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1111C-F52B-4F52-8783-EC17CA78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FD9D-FDCA-4A4D-A6C5-0514FCC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1 × 255 × 255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48D9E-8D4B-4170-B6CA-3B95F1D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287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5A37D-DF30-4ACB-8F0C-0117701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81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Conv1 + ReLU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CF909-F659-46B9-914B-FA3EC2A8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43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9×9 · 1→64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F62F1-4ED7-43BB-BCB7-DBD0080C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287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656CA-4B87-4CDA-8E99-5450D2F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81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Conv2 + ReLU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991BC-D1EB-4CA9-88A8-BE1A805B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1×1 · 64→32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C3D77-44B5-46A4-80C9-F6D433BD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BE4E4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AFEEE-A864-4281-8DCA-6BB1464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EE24A-F571-4F27-97C8-033F437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5×5 · 32→1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75C82-487E-4BA8-B456-85AC9D4B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EEF9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5197D-5639-4A85-81FF-AA931C2F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811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024D1-85C6-411C-AD03-959DCFD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43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1 × 255 × 255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CA87B-8281-4771-82E4-4075BA3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14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789C9-1AA2-458C-B634-E409B4A5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14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F1C8B-94AE-4FE3-84C0-24F56ED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14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F8394-4A63-4964-AD36-96ABF20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1452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1285875" y="3048000"/>
          <a:ext xmlns:a="http://schemas.openxmlformats.org/drawingml/2006/main" cx="9620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428750"/>
                <a:gridCol w="1714500"/>
                <a:gridCol w="2286000"/>
                <a:gridCol w="2667000"/>
              </a:tblGrid>
              <a:tr h="54768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输出通道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卷积核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每个输出的 MAC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边界与激活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Conv1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9×9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81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replicate radius 4，ReLU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Conv2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1×1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 padding，ReLU</a:t>
                      </a:r>
                    </a:p>
                  </a:txBody>
                  <a:tcPr marL="95250" marR="95250" marT="47625" marB="47625" anchor="ctr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Conv3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5×5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replicate radius 2，无激活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AB682-7C62-4B8B-82B5-CBF97BEB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计算语义：cross-correlation；bias-first 可执行顺序；CHW 激活，OIHW 权重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425A6-F855-47D4-B9C0-DD79FA05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550EA-1C46-40EE-B404-8532AEBF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95036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61A32-6D11-422A-AEC1-D8D9AD5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每帧需要 5.22 亿次 MAC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832C2-BC1C-46FD-9B71-6EEDC8C9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DC8BB-19A8-498F-9C62-4E1BB2FA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Conv1 占总计算量 64.54%，Conv3 的单点归约最深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72137932e2453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6509B-4147-4E55-A3FD-D7E96E97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8,129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ADD7B-71DB-48DF-ACB7-F379FC9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权重与 bias 总参数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4A429-08F0-4C41-978B-69E9A1D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857BC-27C8-472B-B6E1-13C15C3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494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94949"/>
                </a:solidFill>
                <a:latin typeface="PingFang SC"/>
                <a:ea typeface="PingFang SC"/>
                <a:cs typeface="PingFang SC"/>
              </a:rPr>
              <a:t>23.81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8963F-8876-47A7-B8E1-4C442EE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099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Conv1 + Conv2 中间特征图</a:t>
            </a:r>
          </a:p>
          <a:p xmlns:a="http://schemas.openxmlformats.org/drawingml/2006/main">
            <a:pPr algn="ctr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32-bit 时无法整幅放入 BRAM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AA1C0-4601-4E45-A51A-2293BD4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27E84-3579-479F-8D86-E2E9A2C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10.34 → 945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4375E-C656-4FA7-A26B-DFEA41EE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18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MAC/byte 理论下界</a:t>
            </a:r>
          </a:p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中间图落 DDR 与三层融合的对比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103B5-A2D4-428D-B798-87CF550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7D872-9441-41B7-90A5-B45B07B3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9084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EAAF2-3731-4FAC-A612-D771B6A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目标硬件结构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0A555-8638-4FE0-8FD1-D53CE845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DEB3E-193B-4B2F-A434-1867013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计划采用层间 streaming，避免把 23.81 MiB 中间特征图写回 DDR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FA92-3A90-4E3F-A606-D22FCD5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333500" cy="13525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3EEF9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90B80-F0A4-44F1-892F-7F4FF84A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PS / PYNQ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F6B26-ADB9-4760-8483-C32EFC2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buffer + 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4A5AB-2B3C-49AD-A350-8D3E344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24050"/>
            <a:ext cx="1257300" cy="13525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73506-E5B5-483A-8DCE-58839A32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95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AXI DMA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69847-0966-4913-B90C-CCCB0959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336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MM ↔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E2C56-FC38-454E-A4A5-F8E56B9B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2757E-6F8C-4B23-84BC-8D855F4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955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9FA8D-133F-47E9-8EB1-28D5114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8-row buffer</a:t>
            </a:r>
          </a:p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MAC array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5929A-9016-449A-B0E8-FB20FC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F16A8-C186-4B41-B1A3-24DD3C07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0A7FA-9C66-4B80-9140-FC81405A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1×1 channel</a:t>
            </a:r>
          </a:p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reduction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64F19-5C9F-4E34-93AF-673C6A1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2000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E4E4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59B2C-E228-4DC5-AEA1-59CBA3D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Conv3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4F51C-BC49-4906-954F-F72A7F0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4-row × 32ch</a:t>
            </a:r>
          </a:p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MAC array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41B1E-95AD-47A2-8929-40F7E5F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924050"/>
            <a:ext cx="1257300" cy="13525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EEF9"/>
          </a:solidFill>
          <a:ln xmlns:a="http://schemas.openxmlformats.org/drawingml/2006/main" w="9525">
            <a:solidFill>
              <a:srgbClr val="CCD5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7AD19-368E-4D4F-8800-98B6E19C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95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D281E-3CA2-463E-B113-6AC0F11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336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TLAST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61BC4-68AC-42C1-9EDB-7CFDD4ED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C699E-CBDC-4026-AD1E-B3DAC2AB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343F7-4428-4149-B324-E2D00FE5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5717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D27C9-6C79-4F6F-8886-C0414ECE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717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35E22-BBEE-45E3-8072-3A9FC38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71750"/>
            <a:ext cx="209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CB5F29-364B-4D82-B70C-D90D8B6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算术层与结构层分离：定点规则不随 loop/port 调整而变化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第一轮 csynth 后用 schedule、dependency 和 memory-port 报告决定展开因子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line buffer 的最低 payload 为 34,680 个值；partition 后实际资源必须重新测量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DMA 路径还需要验证 TKEEP、TLAST、packing、cache flush/invalidate 和 timeout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492C4-B6E8-45B8-83C3-2438059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6740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rPr>
              <a:t>架构状态：PLANNED · II、clock、DSP、BRAM、LUT 均为 NOT MEASURED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8776C-A75A-44A4-9579-E395073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0F3C6-938F-4A60-A715-E9F9B9E6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6998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DED8B-DB2E-4CA2-B209-BDE3553C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Golden Reference 已提交并冻结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BE425-E5A5-4CB2-A29C-67B624B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07795-EB0D-4B71-8A9E-C271722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正确性证据覆盖公式、布局、边界、浮点复现和独立 oracle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80650-36F0-4480-B0AF-193EF2C3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14 /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0ACDE-5969-4D10-B90C-E3C4BA7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C++ 单元测试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2C80C-C491-45CA-89F8-C2DAC0E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273B8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3273B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BEE7F-59C9-44B7-8DF2-8196F449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冻结向量集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1D935-69C2-4E5A-8D97-2FA6EB00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99A1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E99A19"/>
                </a:solidFill>
                <a:latin typeface="PingFang SC"/>
                <a:ea typeface="PingFang SC"/>
                <a:cs typeface="PingFang SC"/>
              </a:rPr>
              <a:t>O0 = O3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029B1-9118-45E1-B5F8-BEC68B37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float32 逐位一致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FCE1A-A085-4684-9D05-4527EC7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9525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独立 Python oracle 直接按卷积公式计算，不复用 C++ 索引和布局代码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覆盖 impulse、sparse OIHW、signed/ReLU、边角像素、最小尺寸与可手算端到端用例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FNV-1a checksum、短读/多读、形状和布局错误都有明确门禁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锁定 -ffp-contract=off，并拒绝 fast-math，避免 FMA 或重排改变 Golden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52536"/>
                </a:solidFill>
                <a:latin typeface="PingFang SC"/>
                <a:ea typeface="PingFang SC"/>
                <a:cs typeface="PingFang SC"/>
              </a:rPr>
              <a:t>课程提交 ZIP 的 SHA256 在本轮开发后保持不变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CC441-C34E-4F6E-A944-209F1EA7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Golden 里程碑：2026-10-05 submitted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93883-245B-484D-B08E-4B83E4A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87B00-5C0A-47B7-8DC2-DC5C8B0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0696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CBFE2-16B2-4849-871E-72D25640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Mac 定点回归已完成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92EA2-8E4B-4B8A-86FE-1743AD57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C7C25-0233-4BFC-9CD6-4C8F63D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当前 Q24.8 是安全基线；正式权重与课程图像恢复后再冻结部署位宽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14478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5713421485431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27A6A-F63A-4BB1-B4AD-68C4B740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6055F-FCBE-4ADC-9C75-0292CB1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五套向量的 saturation 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4DCC4-BF66-49E8-87F8-DA5E928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B8437-9323-403D-ABA1-32C4D20F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5 /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57A1F-2BE0-49FB-A1A5-AB9CA7E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fixed-vs-float 回归通过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5012D-9520-4F69-812B-9455A01F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5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95191-6FCF-44DA-9415-E60C379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rPr>
              <a:t>R=1 PSNR 仅作回归字段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2AC6D-0580-4250-838D-1A525965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随机权重输出可超过 300</a:t>
            </a:r>
          </a:p>
          <a:p xmlns:a="http://schemas.openxmlformats.org/drawingml/2006/main">
            <a:pPr algn="ctr">
              <a:def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不能把该 PSNR 当作图像质量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F7327-F0BA-4803-A456-DFD214AA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1C103-F0C1-4054-A54B-63920F3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9803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A35C2-8BE3-47B5-89DD-2886DC92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01C2C"/>
                </a:solidFill>
                <a:latin typeface="PingFang SC"/>
                <a:ea typeface="PingFang SC"/>
                <a:cs typeface="PingFang SC"/>
              </a:rPr>
              <a:t>当前进度与证据边界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ADDF1-B014-4556-87E4-7EBF058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9501A-1E45-4090-96DF-213DA80E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2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B78"/>
                </a:solidFill>
                <a:latin typeface="PingFang SC"/>
                <a:ea typeface="PingFang SC"/>
                <a:cs typeface="PingFang SC"/>
              </a:rPr>
              <a:t>Mac 可验证数值正确性；真实 II、资源和板级性能仍依赖 x86 Vitis 与 KV260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3525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619250"/>
                <a:gridCol w="4286250"/>
                <a:gridCol w="3667125"/>
              </a:tblGrid>
              <a:tr h="500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已有证据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下一门禁</a:t>
                      </a:r>
                    </a:p>
                  </a:txBody>
                  <a:tcPr marL="95250" marR="95250" marT="57150" marB="57150" anchor="ctr">
                    <a:solidFill>
                      <a:srgbClr val="101C2C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P0a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BLOCKED</a:t>
                      </a:r>
                    </a:p>
                  </a:txBody>
                  <a:tcPr marL="95250" marR="95250" marT="47625" marB="47625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尚无 csynth / export IP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x86 Vitis、part、clock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P0b / P0c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TODO</a:t>
                      </a:r>
                    </a:p>
                  </a:txBody>
                  <a:tcPr marL="95250" marR="95250" marT="47625" marB="47625" anchor="ctr"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尚无 bitstream / DMA 板测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Vivado BD 与 KV260 时段</a:t>
                      </a:r>
                    </a:p>
                  </a:txBody>
                  <a:tcPr marL="95250" marR="95250" marT="47625" marB="4762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DONE</a:t>
                      </a:r>
                    </a:p>
                  </a:txBody>
                  <a:tcPr marL="95250" marR="95250" marT="47625" marB="47625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Golden、14/14、oracle、提交包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冻结，不再改动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P2.1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DONE</a:t>
                      </a:r>
                    </a:p>
                  </a:txBody>
                  <a:tcPr marL="95250" marR="95250" marT="47625" marB="47625" anchor="ctr">
                    <a:solidFill>
                      <a:srgbClr val="D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dual-target、float bitwise、fixed smoke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Vitis C-sim</a:t>
                      </a:r>
                    </a:p>
                  </a:txBody>
                  <a:tcPr marL="95250" marR="95250" marT="47625" marB="4762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P2.2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PARTIAL</a:t>
                      </a:r>
                    </a:p>
                  </a:txBody>
                  <a:tcPr marL="95250" marR="95250" marT="47625" marB="47625" anchor="ctr">
                    <a:solidFill>
                      <a:srgbClr val="FFF0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五向量误差与 saturation harness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正式 weights 与课程图像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P2.3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BLOCKED</a:t>
                      </a:r>
                    </a:p>
                  </a:txBody>
                  <a:tcPr marL="95250" marR="95250" marT="47625" marB="47625" anchor="ctr">
                    <a:solidFill>
                      <a:srgbClr val="FB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目标架构与配置已定义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P0a schedule + P2.2b</a:t>
                      </a:r>
                    </a:p>
                  </a:txBody>
                  <a:tcPr marL="95250" marR="95250" marT="47625" marB="47625" anchor="ctr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 / P4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TODO</a:t>
                      </a:r>
                    </a:p>
                  </a:txBody>
                  <a:tcPr marL="95250" marR="95250" marT="47625" marB="47625" anchor="ctr">
                    <a:solidFill>
                      <a:srgbClr val="E3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workload 与汇报证据已开始整理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536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overlay、benchmark、消融</a:t>
                      </a:r>
                    </a:p>
                  </a:txBody>
                  <a:tcPr marL="95250" marR="95250" marT="47625" marB="47625" anchor="ctr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0DC53-7802-412E-B199-322BE372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4949"/>
                </a:solidFill>
                <a:latin typeface="PingFang SC"/>
                <a:ea typeface="PingFang SC"/>
                <a:cs typeface="PingFang SC"/>
              </a:rPr>
              <a:t>未实测指标：latency · II · throughput · DSP/LUT/FF/BRAM · clock · timing closure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2808-98A4-46C3-A5A8-DAB0662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ELEN90096 Project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19E5A-F4B9-4D47-897E-74A256A8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A879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69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B5498-0617-4F9C-9F2D-928A8A23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剩余任务与预期结果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E0E0-41A3-4D0F-BAE0-568F569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06F8A-680C-4CC3-A4A0-E0C2C541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19250"/>
            <a:ext cx="47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0D955-0FDB-4E69-96ED-697B09D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478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9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2BFEC-694B-46C3-BD76-EB99E0C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859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10/06–10/09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3A35B-5514-4C60-934C-B900EDD5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668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工具链与正式数值门禁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8FD04-C40F-4FE8-B926-8E27C446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669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rPr>
              <a:t>完成 dummy P0a；恢复官方 assets，运行 P2.2b；保存首份 csynth schedule/resource。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2B83D-1A55-441D-875B-B7F4439A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860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A1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259BB-77A5-4BFD-8A98-D2718268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9A1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99A19"/>
                </a:solidFill>
                <a:latin typeface="PingFang SC"/>
                <a:ea typeface="PingFang SC"/>
                <a:cs typeface="PingFang SC"/>
              </a:rPr>
              <a:t>10/09–10/13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AD652-8A83-410C-B609-8EEC45B1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051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 HLS 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DABE3-28F2-4D4B-9830-C881A48C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051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rPr>
              <a:t>实现 line buffer、PIPELINE、适度 UNROLL 和 DATAFLOW；用报告定位 II 与端口冲突。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6755B-63D0-45D0-B977-7A3D18C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243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73B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D6B1C-B720-49C3-95FE-EEA79E76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624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73B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273B8"/>
                </a:solidFill>
                <a:latin typeface="PingFang SC"/>
                <a:ea typeface="PingFang SC"/>
                <a:cs typeface="PingFang SC"/>
              </a:rPr>
              <a:t>10/13–10/17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1C320-CD7B-4CE2-B6E2-EE6F2FF7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433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Overlay 与板级测量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0D1D0-B6F2-42B8-AE22-E9527B0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4340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rPr>
              <a:t>生成 bitstream；验证 DMA、cache、TLAST；测 kernel-only 与 end-to-end。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F0368-818C-4B23-BF68-E45C7F95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51F79-27AB-4EC0-A6A8-6FB11B3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00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494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94949"/>
                </a:solidFill>
                <a:latin typeface="PingFang SC"/>
                <a:ea typeface="PingFang SC"/>
                <a:cs typeface="PingFang SC"/>
              </a:rPr>
              <a:t>10/17–10/19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7048A-79EE-47DA-BC4A-7F1A91C7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816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消融与 Final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FB4000-6097-4FDC-8E35-FBAA89A3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5816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2CED8"/>
                </a:solidFill>
                <a:latin typeface="PingFang SC"/>
                <a:ea typeface="PingFang SC"/>
                <a:cs typeface="PingFang SC"/>
              </a:rPr>
              <a:t>至少三行消融；汇总 timing、资源、speedup、误差和限制。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8DEC6-28A2-4651-8D03-21B14F5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531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预期：先交付可复现、可上板的中等优化设计；性能数字由实际工具与板测决定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AF624-5663-4DB1-96D7-BF3656E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3A99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3A998"/>
                </a:solidFill>
                <a:latin typeface="PingFang SC"/>
                <a:ea typeface="PingFang SC"/>
                <a:cs typeface="PingFang SC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39866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2026-10-06T10:42:39.5550000Z</dcterms:created>
  <dcterms:modified xsi:type="dcterms:W3CDTF">2026-10-06T10:42:39.5550000Z</dcterms:modified>
</coreProperties>
</file>