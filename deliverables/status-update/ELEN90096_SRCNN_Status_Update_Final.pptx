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er 1" id="{64c4ed96-e1b4-f5ec-f378-2cd66735f936}">
          <p14:sldIdLst>
            <p14:sldId id="256"/>
            <p14:sldId id="257"/>
            <p14:sldId id="258"/>
            <p14:sldId id="259"/>
            <p14:sldId id="260"/>
          </p14:sldIdLst>
        </p14:section>
        <p14:section name="Presenter 2" id="{593c44e0-6649-15bf-1937-7774929a496e}">
          <p14:sldIdLst>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355F"/>
                </a:solidFill>
                <a:latin typeface="+mn-lt"/>
              </a:defRPr>
            </a:pPr>
            <a:r>
              <a:rPr sz="1300" b="0" i="0" u="none" strike="noStrike">
                <a:solidFill>
                  <a:srgbClr val="13355F"/>
                </a:solidFill>
                <a:latin typeface="+mn-lt"/>
              </a:rPr>
              <a:t>MACs per frame (millions)</a:t>
            </a:r>
          </a:p>
        </c:rich>
      </c:tx>
      <c:layout/>
      <c:overlay val="0"/>
    </c:title>
    <c:autoTitleDeleted val="0"/>
    <c:plotArea>
      <c:layout/>
      <c:barChart>
        <c:barDir val="col"/>
        <c:grouping val="clustered"/>
        <c:varyColors val="0"/>
        <c:ser>
          <c:idx val="0"/>
          <c:order val="0"/>
          <c:tx>
            <c:strRef>
              <c:f>Sheet1!$B$1</c:f>
              <c:strCache>
                <c:ptCount val="1"/>
                <c:pt idx="0">
                  <c:v>MACs per frame</c:v>
                </c:pt>
              </c:strCache>
            </c:strRef>
          </c:tx>
          <c:spPr>
            <a:solidFill>
              <a:srgbClr val="0E9AAA"/>
            </a:solidFill>
            <a:effectLst/>
          </c:spPr>
          <c:invertIfNegative val="0"/>
          <c:dLbls>
            <c:numFmt formatCode="#,##0.00&quot;M&quot;"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Conv1</c:v>
                  </c:pt>
                  <c:pt idx="1">
                    <c:v>Conv2</c:v>
                  </c:pt>
                  <c:pt idx="2">
                    <c:v>Conv3</c:v>
                  </c:pt>
                </c:lvl>
              </c:multiLvlStrCache>
            </c:multiLvlStrRef>
          </c:cat>
          <c:val>
            <c:numRef>
              <c:f>Sheet1!$B$2:$B$4</c:f>
              <c:numCache>
                <c:formatCode>General</c:formatCode>
                <c:ptCount val="3"/>
                <c:pt idx="0">
                  <c:v>337.09</c:v>
                </c:pt>
                <c:pt idx="1">
                  <c:v>133.17</c:v>
                </c:pt>
                <c:pt idx="2">
                  <c:v>52.02</c:v>
                </c:pt>
              </c:numCache>
            </c:numRef>
          </c:val>
        </c:ser>
        <c:dLbls>
          <c:numFmt formatCode="#,##0.00&quot;M&quot;"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6350" cap="flat">
              <a:solidFill>
                <a:srgbClr val="E1E8EE"/>
              </a:solidFill>
              <a:prstDash val="solid"/>
              <a:round/>
            </a:ln>
          </c:spPr>
        </c:majorGridlines>
        <c:title>
          <c:tx>
            <c:rich>
              <a:bodyPr/>
              <a:lstStyle/>
              <a:p>
                <a:pPr>
                  <a:defRPr sz="1000" b="0" i="0" u="none" strike="noStrike">
                    <a:solidFill>
                      <a:srgbClr val="5B6B7F"/>
                    </a:solidFill>
                    <a:latin typeface="+mn-lt"/>
                  </a:defRPr>
                </a:pPr>
                <a:r>
                  <a:rPr sz="1000" b="0" i="0" u="none" strike="noStrike">
                    <a:solidFill>
                      <a:srgbClr val="5B6B7F"/>
                    </a:solidFill>
                    <a:latin typeface="+mn-lt"/>
                  </a:rPr>
                  <a:t>MAC (millions)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355F"/>
                </a:solidFill>
                <a:latin typeface="+mn-lt"/>
              </a:defRPr>
            </a:pPr>
            <a:r>
              <a:rPr sz="1300" b="0" i="0" u="none" strike="noStrike">
                <a:solidFill>
                  <a:srgbClr val="13355F"/>
                </a:solidFill>
                <a:latin typeface="+mn-lt"/>
              </a:rPr>
              <a:t>HLS latency estimate (million cycles @ 5 ns)</a:t>
            </a:r>
          </a:p>
        </c:rich>
      </c:tx>
      <c:layout/>
      <c:overlay val="0"/>
    </c:title>
    <c:autoTitleDeleted val="0"/>
    <c:plotArea>
      <c:layout/>
      <c:barChart>
        <c:barDir val="col"/>
        <c:grouping val="clustered"/>
        <c:varyColors val="0"/>
        <c:ser>
          <c:idx val="0"/>
          <c:order val="0"/>
          <c:tx>
            <c:strRef>
              <c:f>Sheet1!$B$1</c:f>
              <c:strCache>
                <c:ptCount val="1"/>
                <c:pt idx="0">
                  <c:v>MAC-A</c:v>
                </c:pt>
              </c:strCache>
            </c:strRef>
          </c:tx>
          <c:spPr>
            <a:solidFill>
              <a:srgbClr val="5B6B7F"/>
            </a:solidFill>
            <a:effectLst/>
          </c:spPr>
          <c:invertIfNegative val="0"/>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Sheet1!$A$2:$A$3</c:f>
              <c:multiLvlStrCache>
                <c:ptCount val="2"/>
                <c:lvl>
                  <c:pt idx="0">
                    <c:v>Top latency</c:v>
                  </c:pt>
                  <c:pt idx="1">
                    <c:v>Conv1 latency</c:v>
                  </c:pt>
                </c:lvl>
              </c:multiLvlStrCache>
            </c:multiLvlStrRef>
          </c:cat>
          <c:val>
            <c:numRef>
              <c:f>Sheet1!$B$2:$B$3</c:f>
              <c:numCache>
                <c:formatCode>General</c:formatCode>
                <c:ptCount val="2"/>
                <c:pt idx="0">
                  <c:v>457.51</c:v>
                </c:pt>
                <c:pt idx="1">
                  <c:v>360.37</c:v>
                </c:pt>
              </c:numCache>
            </c:numRef>
          </c:val>
        </c:ser>
        <c:ser>
          <c:idx val="1"/>
          <c:order val="1"/>
          <c:tx>
            <c:strRef>
              <c:f>Sheet1!$C$1</c:f>
              <c:strCache>
                <c:ptCount val="1"/>
                <c:pt idx="0">
                  <c:v>OC4</c:v>
                </c:pt>
              </c:strCache>
            </c:strRef>
          </c:tx>
          <c:spPr>
            <a:solidFill>
              <a:srgbClr val="0E9AAA"/>
            </a:solidFill>
            <a:effectLst/>
          </c:spPr>
          <c:invertIfNegative val="0"/>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cat>
            <c:multiLvlStrRef>
              <c:f>Sheet1!$A$2:$A$3</c:f>
              <c:multiLvlStrCache>
                <c:ptCount val="2"/>
                <c:lvl>
                  <c:pt idx="0">
                    <c:v>Top latency</c:v>
                  </c:pt>
                  <c:pt idx="1">
                    <c:v>Conv1 latency</c:v>
                  </c:pt>
                </c:lvl>
              </c:multiLvlStrCache>
            </c:multiLvlStrRef>
          </c:cat>
          <c:val>
            <c:numRef>
              <c:f>Sheet1!$C$2:$C$3</c:f>
              <c:numCache>
                <c:formatCode>General</c:formatCode>
                <c:ptCount val="2"/>
                <c:pt idx="0">
                  <c:v>206.91</c:v>
                </c:pt>
                <c:pt idx="1">
                  <c:v>109.78</c:v>
                </c:pt>
              </c:numCache>
            </c:numRef>
          </c:val>
        </c:ser>
        <c:dLbls>
          <c:numFmt formatCode="#,##0.0" sourceLinked="0"/>
          <c:txPr>
            <a:bodyPr/>
            <a:lstStyle/>
            <a:p>
              <a:pPr>
                <a:defRPr b="0" i="0" strike="noStrike" sz="1100" u="none">
                  <a:solidFill>
                    <a:srgbClr val="16202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ax val="500"/>
          <c:min val="0"/>
        </c:scaling>
        <c:delete val="0"/>
        <c:axPos val="l"/>
        <c:majorGridlines>
          <c:spPr>
            <a:ln w="6350" cap="flat">
              <a:solidFill>
                <a:srgbClr val="E1E8EE"/>
              </a:solidFill>
              <a:prstDash val="solid"/>
              <a:round/>
            </a:ln>
          </c:spPr>
        </c:majorGridlines>
        <c:title>
          <c:tx>
            <c:rich>
              <a:bodyPr/>
              <a:lstStyle/>
              <a:p>
                <a:pPr>
                  <a:defRPr sz="1000" b="0" i="0" u="none" strike="noStrike">
                    <a:solidFill>
                      <a:srgbClr val="5B6B7F"/>
                    </a:solidFill>
                    <a:latin typeface="+mn-lt"/>
                  </a:defRPr>
                </a:pPr>
                <a:r>
                  <a:rPr sz="1000" b="0" i="0" u="none" strike="noStrike">
                    <a:solidFill>
                      <a:srgbClr val="5B6B7F"/>
                    </a:solidFill>
                    <a:latin typeface="+mn-lt"/>
                  </a:rPr>
                  <a:t>Cycles (millions)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100">
              <a:solidFill>
                <a:srgbClr val="5B6B7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355F"/>
                </a:solidFill>
                <a:latin typeface="+mn-lt"/>
              </a:defRPr>
            </a:pPr>
            <a:r>
              <a:rPr sz="1300" b="0" i="0" u="none" strike="noStrike">
                <a:solidFill>
                  <a:srgbClr val="13355F"/>
                </a:solidFill>
                <a:latin typeface="+mn-lt"/>
              </a:rPr>
              <a:t>Reconstruction PSNR vs fractional bits (W = 32)</a:t>
            </a:r>
          </a:p>
        </c:rich>
      </c:tx>
      <c:layout/>
      <c:overlay val="0"/>
    </c:title>
    <c:autoTitleDeleted val="0"/>
    <c:plotArea>
      <c:layout/>
      <c:lineChart>
        <c:varyColors val="0"/>
        <c:ser>
          <c:idx val="0"/>
          <c:order val="0"/>
          <c:tx>
            <c:strRef>
              <c:f>Sheet1!$B$1</c:f>
              <c:strCache>
                <c:ptCount val="1"/>
                <c:pt idx="0">
                  <c:v>Set14 subset mean (fixed)</c:v>
                </c:pt>
              </c:strCache>
            </c:strRef>
          </c:tx>
          <c:spPr>
            <a:solidFill>
              <a:srgbClr val="0E9AAA"/>
            </a:solidFill>
            <a:ln w="25400" cap="flat">
              <a:solidFill>
                <a:srgbClr val="0E9AAA"/>
              </a:solidFill>
              <a:prstDash val="solid"/>
              <a:round/>
            </a:ln>
            <a:effectLst/>
          </c:spPr>
          <c:invertIfNegative val="0"/>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c:symbol val="circle"/>
            <c:size val="6"/>
            <c:spPr>
              <a:solidFill>
                <a:srgbClr val="0E9AAA"/>
              </a:solidFill>
              <a:ln w="9525" cap="flat">
                <a:solidFill>
                  <a:srgbClr val="0E9AAA"/>
                </a:solidFill>
                <a:prstDash val="solid"/>
                <a:round/>
              </a:ln>
              <a:effectLst/>
            </c:spPr>
          </c:marker>
          <c:cat>
            <c:multiLvlStrRef>
              <c:f>Sheet1!$A$2:$A$8</c:f>
              <c:multiLvlStrCache>
                <c:ptCount val="7"/>
                <c:lvl>
                  <c:pt idx="0">
                    <c:v>8</c:v>
                  </c:pt>
                  <c:pt idx="1">
                    <c:v>10</c:v>
                  </c:pt>
                  <c:pt idx="2">
                    <c:v>12</c:v>
                  </c:pt>
                  <c:pt idx="3">
                    <c:v>14</c:v>
                  </c:pt>
                  <c:pt idx="4">
                    <c:v>16</c:v>
                  </c:pt>
                  <c:pt idx="5">
                    <c:v>18</c:v>
                  </c:pt>
                  <c:pt idx="6">
                    <c:v>20</c:v>
                  </c:pt>
                </c:lvl>
              </c:multiLvlStrCache>
            </c:multiLvlStrRef>
          </c:cat>
          <c:val>
            <c:numRef>
              <c:f>Sheet1!$B$2:$B$8</c:f>
              <c:numCache>
                <c:formatCode>General</c:formatCode>
                <c:ptCount val="7"/>
                <c:pt idx="0">
                  <c:v>25.706</c:v>
                </c:pt>
                <c:pt idx="1">
                  <c:v>29.128</c:v>
                </c:pt>
                <c:pt idx="2">
                  <c:v>29.157</c:v>
                </c:pt>
                <c:pt idx="3">
                  <c:v>29.158</c:v>
                </c:pt>
                <c:pt idx="4">
                  <c:v>29.159</c:v>
                </c:pt>
                <c:pt idx="5">
                  <c:v>29.158</c:v>
                </c:pt>
                <c:pt idx="6">
                  <c:v>29.158</c:v>
                </c:pt>
              </c:numCache>
            </c:numRef>
          </c:val>
          <c:smooth val="0"/>
        </c:ser>
        <c:ser>
          <c:idx val="1"/>
          <c:order val="1"/>
          <c:tx>
            <c:strRef>
              <c:f>Sheet1!$C$1</c:f>
              <c:strCache>
                <c:ptCount val="1"/>
                <c:pt idx="0">
                  <c:v>Float reference (29.158 dB)</c:v>
                </c:pt>
              </c:strCache>
            </c:strRef>
          </c:tx>
          <c:spPr>
            <a:solidFill>
              <a:srgbClr val="E39B2D"/>
            </a:solidFill>
            <a:ln w="25400" cap="flat">
              <a:solidFill>
                <a:srgbClr val="E39B2D"/>
              </a:solidFill>
              <a:prstDash val="solid"/>
              <a:round/>
            </a:ln>
            <a:effectLst/>
          </c:spPr>
          <c:invertIfNegative val="0"/>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c:symbol val="circle"/>
            <c:size val="6"/>
            <c:spPr>
              <a:solidFill>
                <a:srgbClr val="E39B2D"/>
              </a:solidFill>
              <a:ln w="9525" cap="flat">
                <a:solidFill>
                  <a:srgbClr val="E39B2D"/>
                </a:solidFill>
                <a:prstDash val="solid"/>
                <a:round/>
              </a:ln>
              <a:effectLst/>
            </c:spPr>
          </c:marker>
          <c:cat>
            <c:multiLvlStrRef>
              <c:f>Sheet1!$A$2:$A$8</c:f>
              <c:multiLvlStrCache>
                <c:ptCount val="7"/>
                <c:lvl>
                  <c:pt idx="0">
                    <c:v>8</c:v>
                  </c:pt>
                  <c:pt idx="1">
                    <c:v>10</c:v>
                  </c:pt>
                  <c:pt idx="2">
                    <c:v>12</c:v>
                  </c:pt>
                  <c:pt idx="3">
                    <c:v>14</c:v>
                  </c:pt>
                  <c:pt idx="4">
                    <c:v>16</c:v>
                  </c:pt>
                  <c:pt idx="5">
                    <c:v>18</c:v>
                  </c:pt>
                  <c:pt idx="6">
                    <c:v>20</c:v>
                  </c:pt>
                </c:lvl>
              </c:multiLvlStrCache>
            </c:multiLvlStrRef>
          </c:cat>
          <c:val>
            <c:numRef>
              <c:f>Sheet1!$C$2:$C$8</c:f>
              <c:numCache>
                <c:formatCode>General</c:formatCode>
                <c:ptCount val="7"/>
                <c:pt idx="0">
                  <c:v>29.158</c:v>
                </c:pt>
                <c:pt idx="1">
                  <c:v>29.158</c:v>
                </c:pt>
                <c:pt idx="2">
                  <c:v>29.158</c:v>
                </c:pt>
                <c:pt idx="3">
                  <c:v>29.158</c:v>
                </c:pt>
                <c:pt idx="4">
                  <c:v>29.158</c:v>
                </c:pt>
                <c:pt idx="5">
                  <c:v>29.158</c:v>
                </c:pt>
                <c:pt idx="6">
                  <c:v>29.158</c:v>
                </c:pt>
              </c:numCache>
            </c:numRef>
          </c:val>
          <c:smooth val="0"/>
        </c:ser>
        <c:ser>
          <c:idx val="2"/>
          <c:order val="2"/>
          <c:tx>
            <c:strRef>
              <c:f>Sheet1!$D$1</c:f>
              <c:strCache>
                <c:ptCount val="1"/>
                <c:pt idx="0">
                  <c:v>Butterfly (fixed)</c:v>
                </c:pt>
              </c:strCache>
            </c:strRef>
          </c:tx>
          <c:spPr>
            <a:solidFill>
              <a:srgbClr val="13355F"/>
            </a:solidFill>
            <a:ln w="25400" cap="flat">
              <a:solidFill>
                <a:srgbClr val="13355F"/>
              </a:solidFill>
              <a:prstDash val="solid"/>
              <a:round/>
            </a:ln>
            <a:effectLst/>
          </c:spPr>
          <c:invertIfNegative val="0"/>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c:symbol val="circle"/>
            <c:size val="6"/>
            <c:spPr>
              <a:solidFill>
                <a:srgbClr val="13355F"/>
              </a:solidFill>
              <a:ln w="9525" cap="flat">
                <a:solidFill>
                  <a:srgbClr val="13355F"/>
                </a:solidFill>
                <a:prstDash val="solid"/>
                <a:round/>
              </a:ln>
              <a:effectLst/>
            </c:spPr>
          </c:marker>
          <c:cat>
            <c:multiLvlStrRef>
              <c:f>Sheet1!$A$2:$A$8</c:f>
              <c:multiLvlStrCache>
                <c:ptCount val="7"/>
                <c:lvl>
                  <c:pt idx="0">
                    <c:v>8</c:v>
                  </c:pt>
                  <c:pt idx="1">
                    <c:v>10</c:v>
                  </c:pt>
                  <c:pt idx="2">
                    <c:v>12</c:v>
                  </c:pt>
                  <c:pt idx="3">
                    <c:v>14</c:v>
                  </c:pt>
                  <c:pt idx="4">
                    <c:v>16</c:v>
                  </c:pt>
                  <c:pt idx="5">
                    <c:v>18</c:v>
                  </c:pt>
                  <c:pt idx="6">
                    <c:v>20</c:v>
                  </c:pt>
                </c:lvl>
              </c:multiLvlStrCache>
            </c:multiLvlStrRef>
          </c:cat>
          <c:val>
            <c:numRef>
              <c:f>Sheet1!$D$2:$D$8</c:f>
              <c:numCache>
                <c:formatCode>General</c:formatCode>
                <c:ptCount val="7"/>
                <c:pt idx="0">
                  <c:v>25.165</c:v>
                </c:pt>
                <c:pt idx="1">
                  <c:v>27.475</c:v>
                </c:pt>
                <c:pt idx="2">
                  <c:v>27.474</c:v>
                </c:pt>
                <c:pt idx="3">
                  <c:v>27.477</c:v>
                </c:pt>
                <c:pt idx="4">
                  <c:v>27.477</c:v>
                </c:pt>
                <c:pt idx="5">
                  <c:v>27.477</c:v>
                </c:pt>
                <c:pt idx="6">
                  <c:v>27.477</c:v>
                </c:pt>
              </c:numCache>
            </c:numRef>
          </c:val>
          <c:smooth val="0"/>
        </c:ser>
        <c:dLbls>
          <c:numFmt formatCode="#,##0" sourceLinked="0"/>
          <c:txPr>
            <a:bodyPr/>
            <a:lstStyle/>
            <a:p>
              <a:pPr>
                <a:defRPr b="0" i="0" strike="noStrike" sz="1100" u="none">
                  <a:solidFill>
                    <a:srgbClr val="16202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B7F"/>
                    </a:solidFill>
                    <a:latin typeface="+mn-lt"/>
                  </a:defRPr>
                </a:pPr>
                <a:r>
                  <a:rPr sz="1000" b="0" i="0" u="none" strike="noStrike">
                    <a:solidFill>
                      <a:srgbClr val="5B6B7F"/>
                    </a:solidFill>
                    <a:latin typeface="+mn-lt"/>
                  </a:rPr>
                  <a:t>Fractional bits  (8 = Q24.8, 12 = Q20.12)</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ax val="30"/>
          <c:min val="24"/>
        </c:scaling>
        <c:delete val="0"/>
        <c:axPos val="l"/>
        <c:majorGridlines>
          <c:spPr>
            <a:ln w="6350" cap="flat">
              <a:solidFill>
                <a:srgbClr val="E1E8EE"/>
              </a:solidFill>
              <a:prstDash val="solid"/>
              <a:round/>
            </a:ln>
          </c:spPr>
        </c:majorGridlines>
        <c:title>
          <c:tx>
            <c:rich>
              <a:bodyPr/>
              <a:lstStyle/>
              <a:p>
                <a:pPr>
                  <a:defRPr sz="1000" b="0" i="0" u="none" strike="noStrike">
                    <a:solidFill>
                      <a:srgbClr val="5B6B7F"/>
                    </a:solidFill>
                    <a:latin typeface="+mn-lt"/>
                  </a:defRPr>
                </a:pPr>
                <a:r>
                  <a:rPr sz="1000" b="0" i="0" u="none" strike="noStrike">
                    <a:solidFill>
                      <a:srgbClr val="5B6B7F"/>
                    </a:solidFill>
                    <a:latin typeface="+mn-lt"/>
                  </a:rPr>
                  <a:t>PSNR (dB)</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000">
              <a:solidFill>
                <a:srgbClr val="5B6B7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Ziye Xiong  |  Suggested time: 0:45
Hi everyone. I'm Ziye Xiong. This is Aero Cao. Our project is an FPGA accelerator for SRCNN. SRCNN is a network for image super-resolution. We run it on the Kria KV260 board.
Here is our status in one line. The HLS design is done. The RTL verification is done. The 200 MHz hardware is done. And both fixed-point versions now pass on the real board. The bar at the bottom shows all five stages complete.
For each part, we answer four questions. What did we build? Why? What is the evidence? What is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Ziye Xiong  |  Suggested time: 0:50
The network is fixed by the course. We cannot change the algorithm. We can only change how it runs. The input has one channel. It is 255 by 255 pixels. It is already upsampled with bicubic.
Conv1 has 64 filters. Each filter is 9 by 9. ReLU follows. Conv2 is a 1 by 1 convolution. It turns 64 channels into 32. ReLU follows again. Conv3 has a 5 by 5 kernel. It turns 32 channels into one image. It has no activation.
All layers use stride 1. We use cross-correlation. So the kernels are not flipped. Borders use replicate-edge padding. So the output is also 255 by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Ziye Xiong  |  Suggested time: 0:55
Now let's count the work. One frame needs about 522 million MACs. MAC means multiply-accumulate. Conv1 alone needs 337 million. That is about 65 percent. So Conv1 is our first target.
This workload fits hardware well. The convolutions are regular. Each input pixel is reused many times. The 64 output channels are independent. So they can run in parallel. The three layers can also form a pipeline.
There are also challenges. The middle feature maps are large. Conv3 adds 800 terms for each output. So the accumulator must be wide. DDR and DMA traffic can become a bottleneck. And fixed-point precision must be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Ziye Xiong  |  Suggested time: 1:15
This is our final architecture. The left side is the PS. Its DDR holds three buffers. One is the model. One is the input frame. One is the output frame.
First, a block called load_runtime_model reads the model from DDR. The model has 8,129 words. That is 32,516 bytes. It is read once per run. Each layer then keeps its own weights on chip.
Next, the image streams in through AXI DMA. It is 65,025 words of 32 bits. Conv1 has four output-channel lanes. Conv1 feeds Conv2 through a FIFO. Conv2 feeds Conv3 through another FIFO. The result streams out through DMA. The output is also 65,025 words.
The key idea is the pixel-major stream. Each pixel travels with all its channel values. We never build a full feature map. So the Conv1 and Conv2 maps are never written to DDR. Together they would be about 24 MiB. DDR only holds the model, the input and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Ziye Xiong  |  Suggested time: 1:10
We reached this design in several steps. After each step, we checked against the Golden. Step one was natural loops. This was our functional baseline. Step two added line buffers.
Our first line buffer used circular row banks. A runtime selector picked the bank. This selector made wide multiplexers. The multiplexers hurt timing. So we used fixed-delay banks. Each bank has one fixed role. The selector is gone.
Then we specialised the code for replicate padding only. This happens at compile time. It brought back 5 ns HLS timing.
Only then did we add parallelism. First we computed two output channels per pass. Then we computed four. Last, we built a canonical DATAFLOW structure. Streams connect the layers.
One idea did not help. We changed the write-back address logic. It gave no gain. We kept it as a negative result.
HANDOVER: "Timing is now under control. Aero will show what OC4 gives us, and how we got it onto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Aero Cao  |  Suggested time: 0:50
Thanks, Ziye. This slide compares two designs. MAC-A is our timing-clean design without parallelism. OC4 is the parallel design.
The top latency drops from 457.5 million cycles to 206.9 million. That is 54.8 percent lower. Conv1 latency is 69.5 percent lower.
We still compute all 64 kernels. OC4 just computes four output channels per pass. The cost is more hardware. DSPs go from 13 to 25. LUTs go from about 14 thousand to 16 thousand.
Please note one thing. These are HLS estimates. They are not board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Aero Cao  |  Suggested time: 1:05
Next is precision. Our first format was Q24.8. Its arithmetic is correct. But its quality is too low with the official weights.
Butterfly drops from 27.48 dB to 25.16 dB. The Set14 mean drops from 29.16 dB to 25.71 dB. Why? Q24.8 has only 8 fractional bits. So 1,205 of 5,184 non-zero Conv1 weights become zero.
So we tested more fractional bits offline. The chart shows the result. At 12 fractional bits, we get Q20.12. The largest PSNR difference from float is 0.004 dB. The lowest fixed-versus-float PSNR is 60.6 dB.
Q20.12 is the lowest precision we tested that passes our criteria. The two formats use different raw words and bitstreams. So we never mix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Aero Cao  |  Suggested time: 1:05
How do we know the hardware is correct? We check it level by level. The base is an independent Golden. Then come host C simulation and HLS synthesis.
The RTL level needs care. Vitis automatic co-simulation passed 1 by 1 and 5 by 7. But on 13 by 17, its harness stalled. So that run did not pass.
So we wrote our own SystemVerilog testbench. It tests the generated RTL directly. For Q20.12, it runs two full frames without a reset. All 130,050 outputs match bit for bit. A wrong Golden is rejected. So the check really works.
The top level is now green too. Both formats passed on the real KV260. I will show that next. The co-sim stall's root cause is still open. But the RTL is checked by our testbench and by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Aero Cao  |  Suggested time: 1:05
This is the board result. We built final V3 overlays for both formats. Both close timing at 5 nanoseconds, or 200 megahertz. The slack is 0.105 and 0.109 nanoseconds. Resources are almost the same.
Our first board build, V2, did not work. We found the cause. An auxiliary reset input was tied low. This held the AXI fabric in reset. V3 ties it high. Then both formats worked.
Each format ran 14 frames. That includes a warm-up and 10 repeats. It includes a new input and model, a restore, and an overlay reload. All 65,025 words in every frame match the fixed-point Golden.
The median time is about 0.750 seconds per frame. This includes model loading and DMA. It is not kernel-only time. Bit-exact here means equal to the fixed-point Golden. It does not mean zero error versus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Aero Cao  |  Suggested time: 0:50
So where are we now? The left side is done. It goes from the Golden all the way to the board. Both Q24.8 and Q20.12 pass on the KV260.
Four tasks remain. First, a fair CPU baseline with the same measurement boundary. Only then can we claim a speedup. Second, a performance breakdown of the 0.750 seconds. Third, board checks on more images. Fourth, the final report.
Both formats take the same board time. But Q20.12 is much closer to float quality.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chemeClr val="accent4"/>
                </a:solidFill>
              </a:rPr>
              <a:t>ELEN90096 Project Status Update</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chemeClr val="accent4"/>
                </a:solidFill>
              </a:rPr>
              <a:t>ELEN90096 Project Status Update</a:t>
            </a:r>
            <a:endParaRPr lang="en-US" sz="900" dirty="0"/>
          </a:p>
        </p:txBody>
      </p:sp>
      <p:sp>
        <p:nvSpPr>
          <p:cNvPr id="3" name="Text 1"/>
          <p:cNvSpPr/>
          <p:nvPr>
            <p:ph idx="101" type="title" hasCustomPrompt="1"/>
          </p:nvPr>
        </p:nvSpPr>
        <p:spPr>
          <a:xfrm>
            <a:off x="457200" y="256032"/>
            <a:ext cx="8229600" cy="566928"/>
          </a:xfrm>
          <a:prstGeom prst="rect">
            <a:avLst/>
          </a:prstGeom>
          <a:noFill/>
          <a:ln/>
        </p:spPr>
        <p:txBody>
          <a:bodyPr wrap="square" rtlCol="0"/>
          <a:lstStyle>
            <a:lvl1pPr algn="l" indent="0" marL="0">
              <a:buNone/>
              <a:defRPr lang="en-US" sz="2400" b="1" dirty="0">
                <a:solidFill>
                  <a:schemeClr val="tx2"/>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chemeClr val="accent5"/>
                </a:solidFill>
              </a:rPr>
              <a:t>ELEN90096 Project Status Update</a:t>
            </a:r>
            <a:endParaRPr lang="en-US" sz="900" dirty="0"/>
          </a:p>
        </p:txBody>
      </p:sp>
      <p:sp>
        <p:nvSpPr>
          <p:cNvPr id="3" name="Text 1"/>
          <p:cNvSpPr/>
          <p:nvPr>
            <p:ph idx="101" type="title" hasCustomPrompt="1"/>
          </p:nvPr>
        </p:nvSpPr>
        <p:spPr>
          <a:xfrm>
            <a:off x="457200" y="256032"/>
            <a:ext cx="8229600" cy="566928"/>
          </a:xfrm>
          <a:prstGeom prst="rect">
            <a:avLst/>
          </a:prstGeom>
          <a:noFill/>
          <a:ln/>
        </p:spPr>
        <p:txBody>
          <a:bodyPr wrap="square" rtlCol="0"/>
          <a:lstStyle>
            <a:lvl1pPr algn="l" indent="0" marL="0">
              <a:buNone/>
              <a:defRPr lang="en-US" sz="2400" b="1" dirty="0">
                <a:solidFill>
                  <a:schemeClr val="bg1"/>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1"/>
          <p:cNvSpPr txBox="1"/>
          <p:nvPr/>
        </p:nvSpPr>
        <p:spPr>
          <a:xfrm>
            <a:off x="457200" y="411480"/>
            <a:ext cx="8229600" cy="274320"/>
          </a:xfrm>
          <a:prstGeom prst="rect">
            <a:avLst/>
          </a:prstGeom>
          <a:noFill/>
          <a:ln/>
        </p:spPr>
        <p:txBody>
          <a:bodyPr wrap="square" lIns="0" tIns="0" rIns="0" bIns="0" rtlCol="0" anchor="ctr"/>
          <a:lstStyle/>
          <a:p>
            <a:pPr indent="0" marL="0">
              <a:buNone/>
            </a:pPr>
            <a:r>
              <a:rPr lang="en-US" sz="1100" b="1" spc="100" kern="0" dirty="0">
                <a:solidFill>
                  <a:schemeClr val="accent5"/>
                </a:solidFill>
                <a:latin typeface="Calibri" pitchFamily="34" charset="0"/>
                <a:ea typeface="Calibri" pitchFamily="34" charset="-122"/>
                <a:cs typeface="Calibri" pitchFamily="34" charset="-120"/>
              </a:rPr>
              <a:t>ELEN90096 HARDWARE ACCELERATED COMPUTING · PROJECT STATUS UPDATE</a:t>
            </a:r>
            <a:endParaRPr lang="en-US" sz="1100" dirty="0"/>
          </a:p>
        </p:txBody>
      </p:sp>
      <p:sp>
        <p:nvSpPr>
          <p:cNvPr id="3" name="t2"/>
          <p:cNvSpPr txBox="1"/>
          <p:nvPr/>
        </p:nvSpPr>
        <p:spPr>
          <a:xfrm>
            <a:off x="457200" y="749808"/>
            <a:ext cx="8412480" cy="68580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FPGA-Accelerated SRCNN on Kria KV260</a:t>
            </a:r>
            <a:endParaRPr lang="en-US" sz="3200" dirty="0"/>
          </a:p>
        </p:txBody>
      </p:sp>
      <p:sp>
        <p:nvSpPr>
          <p:cNvPr id="4" name="t3"/>
          <p:cNvSpPr txBox="1"/>
          <p:nvPr/>
        </p:nvSpPr>
        <p:spPr>
          <a:xfrm>
            <a:off x="457200" y="1463040"/>
            <a:ext cx="8229600" cy="320040"/>
          </a:xfrm>
          <a:prstGeom prst="rect">
            <a:avLst/>
          </a:prstGeom>
          <a:noFill/>
          <a:ln/>
        </p:spPr>
        <p:txBody>
          <a:bodyPr wrap="square" lIns="0" tIns="0" rIns="0" bIns="0" rtlCol="0" anchor="ctr"/>
          <a:lstStyle/>
          <a:p>
            <a:pPr indent="0" marL="0">
              <a:buNone/>
            </a:pPr>
            <a:r>
              <a:rPr lang="en-US" sz="1600" dirty="0">
                <a:solidFill>
                  <a:schemeClr val="accent5"/>
                </a:solidFill>
                <a:latin typeface="Calibri" pitchFamily="34" charset="0"/>
                <a:ea typeface="Calibri" pitchFamily="34" charset="-122"/>
                <a:cs typeface="Calibri" pitchFamily="34" charset="-120"/>
              </a:rPr>
              <a:t>Vitis HLS · AXI4-Stream DATAFLOW · AXI DMA · PYNQ</a:t>
            </a:r>
            <a:endParaRPr lang="en-US" sz="1600" dirty="0"/>
          </a:p>
        </p:txBody>
      </p:sp>
      <p:sp>
        <p:nvSpPr>
          <p:cNvPr id="5" name="t4"/>
          <p:cNvSpPr txBox="1"/>
          <p:nvPr/>
        </p:nvSpPr>
        <p:spPr>
          <a:xfrm>
            <a:off x="457200" y="1874520"/>
            <a:ext cx="8229600" cy="32004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Ziye Xiong   ·   Aero Cao</a:t>
            </a:r>
            <a:endParaRPr lang="en-US" sz="1500" dirty="0"/>
          </a:p>
        </p:txBody>
      </p:sp>
      <p:sp>
        <p:nvSpPr>
          <p:cNvPr id="6" name="r5"/>
          <p:cNvSpPr/>
          <p:nvPr/>
        </p:nvSpPr>
        <p:spPr>
          <a:xfrm>
            <a:off x="457200" y="2423160"/>
            <a:ext cx="8229600" cy="658368"/>
          </a:xfrm>
          <a:prstGeom prst="roundRect">
            <a:avLst>
              <a:gd name="adj" fmla="val 8333"/>
            </a:avLst>
          </a:prstGeom>
          <a:solidFill>
            <a:schemeClr val="accent2"/>
          </a:solidFill>
          <a:ln/>
        </p:spPr>
      </p:sp>
      <p:sp>
        <p:nvSpPr>
          <p:cNvPr id="7" name="t6"/>
          <p:cNvSpPr txBox="1"/>
          <p:nvPr/>
        </p:nvSpPr>
        <p:spPr>
          <a:xfrm>
            <a:off x="685800" y="2423160"/>
            <a:ext cx="7772400" cy="658368"/>
          </a:xfrm>
          <a:prstGeom prst="rect">
            <a:avLst/>
          </a:prstGeom>
          <a:noFill/>
          <a:ln/>
        </p:spPr>
        <p:txBody>
          <a:bodyPr wrap="square" lIns="0" tIns="0" rIns="0" bIns="0" rtlCol="0" anchor="ctr"/>
          <a:lstStyle/>
          <a:p>
            <a:pPr indent="0" marL="0">
              <a:buNone/>
            </a:pPr>
            <a:r>
              <a:rPr lang="en-US" sz="1500" b="1" dirty="0">
                <a:solidFill>
                  <a:schemeClr val="accent5"/>
                </a:solidFill>
                <a:latin typeface="Calibri" pitchFamily="34" charset="0"/>
                <a:ea typeface="Calibri" pitchFamily="34" charset="-122"/>
                <a:cs typeface="Calibri" pitchFamily="34" charset="-120"/>
              </a:rPr>
              <a:t>Status  </a:t>
            </a:r>
            <a:pPr indent="0" marL="0">
              <a:buNone/>
            </a:pPr>
            <a:r>
              <a:rPr lang="en-US" sz="1500" dirty="0">
                <a:solidFill>
                  <a:schemeClr val="bg1"/>
                </a:solidFill>
                <a:latin typeface="Calibri" pitchFamily="34" charset="0"/>
                <a:ea typeface="Calibri" pitchFamily="34" charset="-122"/>
                <a:cs typeface="Calibri" pitchFamily="34" charset="-120"/>
              </a:rPr>
              <a:t>HLS, RTL verification and 200 MHz hardware are complete; Q24.8 and Q20.12 both pass bit-exact on the KV260 board.</a:t>
            </a:r>
            <a:endParaRPr lang="en-US" sz="1500" dirty="0"/>
          </a:p>
        </p:txBody>
      </p:sp>
      <p:sp>
        <p:nvSpPr>
          <p:cNvPr id="8" name="stage0"/>
          <p:cNvSpPr/>
          <p:nvPr/>
        </p:nvSpPr>
        <p:spPr>
          <a:xfrm>
            <a:off x="457200" y="3429000"/>
            <a:ext cx="1572768" cy="566928"/>
          </a:xfrm>
          <a:prstGeom prst="homePlate">
            <a:avLst/>
          </a:prstGeom>
          <a:solidFill>
            <a:schemeClr val="accent1"/>
          </a:solidFill>
          <a:ln/>
        </p:spPr>
      </p:sp>
      <p:sp>
        <p:nvSpPr>
          <p:cNvPr id="9" name="t7"/>
          <p:cNvSpPr txBox="1"/>
          <p:nvPr/>
        </p:nvSpPr>
        <p:spPr>
          <a:xfrm>
            <a:off x="566928" y="3429000"/>
            <a:ext cx="1298448"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 Software</a:t>
            </a:r>
            <a:endParaRPr lang="en-US" sz="1400" dirty="0"/>
          </a:p>
        </p:txBody>
      </p:sp>
      <p:sp>
        <p:nvSpPr>
          <p:cNvPr id="10" name="t8"/>
          <p:cNvSpPr txBox="1"/>
          <p:nvPr/>
        </p:nvSpPr>
        <p:spPr>
          <a:xfrm>
            <a:off x="457200" y="4069080"/>
            <a:ext cx="1572768"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Golden + host</a:t>
            </a:r>
            <a:endParaRPr lang="en-US" sz="1100" dirty="0"/>
          </a:p>
        </p:txBody>
      </p:sp>
      <p:sp>
        <p:nvSpPr>
          <p:cNvPr id="11" name="stage1"/>
          <p:cNvSpPr/>
          <p:nvPr/>
        </p:nvSpPr>
        <p:spPr>
          <a:xfrm>
            <a:off x="2121408" y="3429000"/>
            <a:ext cx="1572768" cy="566928"/>
          </a:xfrm>
          <a:prstGeom prst="chevron">
            <a:avLst/>
          </a:prstGeom>
          <a:solidFill>
            <a:schemeClr val="accent1"/>
          </a:solidFill>
          <a:ln/>
        </p:spPr>
      </p:sp>
      <p:sp>
        <p:nvSpPr>
          <p:cNvPr id="12" name="t9"/>
          <p:cNvSpPr txBox="1"/>
          <p:nvPr/>
        </p:nvSpPr>
        <p:spPr>
          <a:xfrm>
            <a:off x="2231136" y="3429000"/>
            <a:ext cx="1298448"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 HLS</a:t>
            </a:r>
            <a:endParaRPr lang="en-US" sz="1400" dirty="0"/>
          </a:p>
        </p:txBody>
      </p:sp>
      <p:sp>
        <p:nvSpPr>
          <p:cNvPr id="13" name="t10"/>
          <p:cNvSpPr txBox="1"/>
          <p:nvPr/>
        </p:nvSpPr>
        <p:spPr>
          <a:xfrm>
            <a:off x="2121408" y="4069080"/>
            <a:ext cx="1572768"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OC4 · 5 ns</a:t>
            </a:r>
            <a:endParaRPr lang="en-US" sz="1100" dirty="0"/>
          </a:p>
        </p:txBody>
      </p:sp>
      <p:sp>
        <p:nvSpPr>
          <p:cNvPr id="14" name="stage2"/>
          <p:cNvSpPr/>
          <p:nvPr/>
        </p:nvSpPr>
        <p:spPr>
          <a:xfrm>
            <a:off x="3785616" y="3429000"/>
            <a:ext cx="1572768" cy="566928"/>
          </a:xfrm>
          <a:prstGeom prst="chevron">
            <a:avLst/>
          </a:prstGeom>
          <a:solidFill>
            <a:schemeClr val="accent1"/>
          </a:solidFill>
          <a:ln/>
        </p:spPr>
      </p:sp>
      <p:sp>
        <p:nvSpPr>
          <p:cNvPr id="15" name="t11"/>
          <p:cNvSpPr txBox="1"/>
          <p:nvPr/>
        </p:nvSpPr>
        <p:spPr>
          <a:xfrm>
            <a:off x="3895344" y="3429000"/>
            <a:ext cx="1298448"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 RTL</a:t>
            </a:r>
            <a:endParaRPr lang="en-US" sz="1400" dirty="0"/>
          </a:p>
        </p:txBody>
      </p:sp>
      <p:sp>
        <p:nvSpPr>
          <p:cNvPr id="16" name="t12"/>
          <p:cNvSpPr txBox="1"/>
          <p:nvPr/>
        </p:nvSpPr>
        <p:spPr>
          <a:xfrm>
            <a:off x="3785616" y="4069080"/>
            <a:ext cx="1572768"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independent TB</a:t>
            </a:r>
            <a:endParaRPr lang="en-US" sz="1100" dirty="0"/>
          </a:p>
        </p:txBody>
      </p:sp>
      <p:sp>
        <p:nvSpPr>
          <p:cNvPr id="17" name="stage3"/>
          <p:cNvSpPr/>
          <p:nvPr/>
        </p:nvSpPr>
        <p:spPr>
          <a:xfrm>
            <a:off x="5449824" y="3429000"/>
            <a:ext cx="1572768" cy="566928"/>
          </a:xfrm>
          <a:prstGeom prst="chevron">
            <a:avLst/>
          </a:prstGeom>
          <a:solidFill>
            <a:schemeClr val="accent1"/>
          </a:solidFill>
          <a:ln/>
        </p:spPr>
      </p:sp>
      <p:sp>
        <p:nvSpPr>
          <p:cNvPr id="18" name="t13"/>
          <p:cNvSpPr txBox="1"/>
          <p:nvPr/>
        </p:nvSpPr>
        <p:spPr>
          <a:xfrm>
            <a:off x="5559552" y="3429000"/>
            <a:ext cx="1298448"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 Vivado</a:t>
            </a:r>
            <a:endParaRPr lang="en-US" sz="1400" dirty="0"/>
          </a:p>
        </p:txBody>
      </p:sp>
      <p:sp>
        <p:nvSpPr>
          <p:cNvPr id="19" name="t14"/>
          <p:cNvSpPr txBox="1"/>
          <p:nvPr/>
        </p:nvSpPr>
        <p:spPr>
          <a:xfrm>
            <a:off x="5449824" y="4069080"/>
            <a:ext cx="1572768"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routed 200 MHz</a:t>
            </a:r>
            <a:endParaRPr lang="en-US" sz="1100" dirty="0"/>
          </a:p>
        </p:txBody>
      </p:sp>
      <p:sp>
        <p:nvSpPr>
          <p:cNvPr id="20" name="stage4"/>
          <p:cNvSpPr/>
          <p:nvPr/>
        </p:nvSpPr>
        <p:spPr>
          <a:xfrm>
            <a:off x="7114032" y="3429000"/>
            <a:ext cx="1572768" cy="566928"/>
          </a:xfrm>
          <a:prstGeom prst="chevron">
            <a:avLst/>
          </a:prstGeom>
          <a:solidFill>
            <a:schemeClr val="accent1"/>
          </a:solidFill>
          <a:ln/>
        </p:spPr>
      </p:sp>
      <p:sp>
        <p:nvSpPr>
          <p:cNvPr id="21" name="t15"/>
          <p:cNvSpPr txBox="1"/>
          <p:nvPr/>
        </p:nvSpPr>
        <p:spPr>
          <a:xfrm>
            <a:off x="7223760" y="3429000"/>
            <a:ext cx="1298448" cy="56692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 Board</a:t>
            </a:r>
            <a:endParaRPr lang="en-US" sz="1400" dirty="0"/>
          </a:p>
        </p:txBody>
      </p:sp>
      <p:sp>
        <p:nvSpPr>
          <p:cNvPr id="22" name="t16"/>
          <p:cNvSpPr txBox="1"/>
          <p:nvPr/>
        </p:nvSpPr>
        <p:spPr>
          <a:xfrm>
            <a:off x="7114032" y="4069080"/>
            <a:ext cx="1572768"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Q24.8 + Q20.12 PASS</a:t>
            </a:r>
            <a:endParaRPr lang="en-US" sz="1100" dirty="0"/>
          </a:p>
        </p:txBody>
      </p:sp>
      <p:sp>
        <p:nvSpPr>
          <p:cNvPr id="24"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SRCNN: three fixed conv layers, 255 × 255 in and out</a:t>
            </a:r>
            <a:endParaRPr lang="en-US" sz="2400" dirty="0"/>
          </a:p>
        </p:txBody>
      </p:sp>
      <p:sp>
        <p:nvSpPr>
          <p:cNvPr id="3" name="t17"/>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Input is already bicubic-upsampled; the accelerator performs inference only — the network itself cannot be changed.</a:t>
            </a:r>
            <a:endParaRPr lang="en-US" sz="1300" dirty="0"/>
          </a:p>
        </p:txBody>
      </p:sp>
      <p:sp>
        <p:nvSpPr>
          <p:cNvPr id="4" name="r18"/>
          <p:cNvSpPr/>
          <p:nvPr/>
        </p:nvSpPr>
        <p:spPr>
          <a:xfrm>
            <a:off x="502920" y="2048256"/>
            <a:ext cx="566928" cy="566928"/>
          </a:xfrm>
          <a:prstGeom prst="rect">
            <a:avLst/>
          </a:prstGeom>
          <a:solidFill>
            <a:schemeClr val="accent5"/>
          </a:solidFill>
          <a:ln w="9525">
            <a:solidFill>
              <a:schemeClr val="accent1"/>
            </a:solidFill>
            <a:prstDash val="solid"/>
          </a:ln>
        </p:spPr>
      </p:sp>
      <p:sp>
        <p:nvSpPr>
          <p:cNvPr id="5" name="t19"/>
          <p:cNvSpPr txBox="1"/>
          <p:nvPr/>
        </p:nvSpPr>
        <p:spPr>
          <a:xfrm>
            <a:off x="274320" y="2834640"/>
            <a:ext cx="1024128" cy="256032"/>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Input</a:t>
            </a:r>
            <a:endParaRPr lang="en-US" sz="1200" dirty="0"/>
          </a:p>
        </p:txBody>
      </p:sp>
      <p:sp>
        <p:nvSpPr>
          <p:cNvPr id="6" name="t20"/>
          <p:cNvSpPr txBox="1"/>
          <p:nvPr/>
        </p:nvSpPr>
        <p:spPr>
          <a:xfrm>
            <a:off x="274320" y="3063240"/>
            <a:ext cx="1024128" cy="228600"/>
          </a:xfrm>
          <a:prstGeom prst="rect">
            <a:avLst/>
          </a:prstGeom>
          <a:noFill/>
          <a:ln/>
        </p:spPr>
        <p:txBody>
          <a:bodyPr wrap="square" lIns="0" tIns="0" rIns="0" bIns="0" rtlCol="0" anchor="ctr"/>
          <a:lstStyle/>
          <a:p>
            <a:pPr algn="ctr" indent="0" marL="0">
              <a:buNone/>
            </a:pPr>
            <a:r>
              <a:rPr lang="en-US" sz="1000" dirty="0">
                <a:solidFill>
                  <a:schemeClr val="accent4"/>
                </a:solidFill>
                <a:latin typeface="Calibri" pitchFamily="34" charset="0"/>
                <a:ea typeface="Calibri" pitchFamily="34" charset="-122"/>
                <a:cs typeface="Calibri" pitchFamily="34" charset="-120"/>
              </a:rPr>
              <a:t>1 × 255 × 255</a:t>
            </a:r>
            <a:endParaRPr lang="en-US" sz="1000" dirty="0"/>
          </a:p>
        </p:txBody>
      </p:sp>
      <p:sp>
        <p:nvSpPr>
          <p:cNvPr id="7" name="a21"/>
          <p:cNvSpPr/>
          <p:nvPr/>
        </p:nvSpPr>
        <p:spPr>
          <a:xfrm>
            <a:off x="1115568" y="2331720"/>
            <a:ext cx="228600" cy="0"/>
          </a:xfrm>
          <a:prstGeom prst="line">
            <a:avLst/>
          </a:prstGeom>
          <a:noFill/>
          <a:ln w="19050">
            <a:solidFill>
              <a:schemeClr val="accent4"/>
            </a:solidFill>
            <a:prstDash val="solid"/>
            <a:tailEnd type="triangle"/>
          </a:ln>
        </p:spPr>
      </p:sp>
      <p:sp>
        <p:nvSpPr>
          <p:cNvPr id="8" name="r22"/>
          <p:cNvSpPr/>
          <p:nvPr/>
        </p:nvSpPr>
        <p:spPr>
          <a:xfrm>
            <a:off x="1371600" y="1673352"/>
            <a:ext cx="1078992" cy="1316736"/>
          </a:xfrm>
          <a:prstGeom prst="roundRect">
            <a:avLst>
              <a:gd name="adj" fmla="val 5085"/>
            </a:avLst>
          </a:prstGeom>
          <a:solidFill>
            <a:schemeClr val="tx2"/>
          </a:solidFill>
          <a:ln/>
        </p:spPr>
      </p:sp>
      <p:sp>
        <p:nvSpPr>
          <p:cNvPr id="9" name="t23"/>
          <p:cNvSpPr txBox="1"/>
          <p:nvPr/>
        </p:nvSpPr>
        <p:spPr>
          <a:xfrm>
            <a:off x="1371600" y="1728216"/>
            <a:ext cx="1078992"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Conv1</a:t>
            </a:r>
            <a:endParaRPr lang="en-US" sz="1500" dirty="0"/>
          </a:p>
        </p:txBody>
      </p:sp>
      <p:sp>
        <p:nvSpPr>
          <p:cNvPr id="10" name="t24"/>
          <p:cNvSpPr txBox="1"/>
          <p:nvPr/>
        </p:nvSpPr>
        <p:spPr>
          <a:xfrm>
            <a:off x="1371600" y="2039112"/>
            <a:ext cx="1078992" cy="274320"/>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9 × 9</a:t>
            </a:r>
            <a:endParaRPr lang="en-US" sz="1300" dirty="0"/>
          </a:p>
        </p:txBody>
      </p:sp>
      <p:sp>
        <p:nvSpPr>
          <p:cNvPr id="11" name="t25"/>
          <p:cNvSpPr txBox="1"/>
          <p:nvPr/>
        </p:nvSpPr>
        <p:spPr>
          <a:xfrm>
            <a:off x="1371600" y="2313432"/>
            <a:ext cx="1078992" cy="274320"/>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1 → 64</a:t>
            </a:r>
            <a:endParaRPr lang="en-US" sz="1300" dirty="0"/>
          </a:p>
        </p:txBody>
      </p:sp>
      <p:sp>
        <p:nvSpPr>
          <p:cNvPr id="12" name="t26"/>
          <p:cNvSpPr txBox="1"/>
          <p:nvPr/>
        </p:nvSpPr>
        <p:spPr>
          <a:xfrm>
            <a:off x="1371600" y="2606040"/>
            <a:ext cx="1078992" cy="274320"/>
          </a:xfrm>
          <a:prstGeom prst="rect">
            <a:avLst/>
          </a:prstGeom>
          <a:noFill/>
          <a:ln/>
        </p:spPr>
        <p:txBody>
          <a:bodyPr wrap="square" lIns="0" tIns="0" rIns="0" bIns="0" rtlCol="0" anchor="ctr"/>
          <a:lstStyle/>
          <a:p>
            <a:pPr algn="ctr" indent="0" marL="0">
              <a:buNone/>
            </a:pPr>
            <a:r>
              <a:rPr lang="en-US" sz="1100" b="1" dirty="0">
                <a:solidFill>
                  <a:schemeClr val="accent5"/>
                </a:solidFill>
                <a:latin typeface="Calibri" pitchFamily="34" charset="0"/>
                <a:ea typeface="Calibri" pitchFamily="34" charset="-122"/>
                <a:cs typeface="Calibri" pitchFamily="34" charset="-120"/>
              </a:rPr>
              <a:t>ReLU</a:t>
            </a:r>
            <a:endParaRPr lang="en-US" sz="1100" dirty="0"/>
          </a:p>
        </p:txBody>
      </p:sp>
      <p:sp>
        <p:nvSpPr>
          <p:cNvPr id="13" name="a27"/>
          <p:cNvSpPr/>
          <p:nvPr/>
        </p:nvSpPr>
        <p:spPr>
          <a:xfrm>
            <a:off x="2496312" y="2331720"/>
            <a:ext cx="201168" cy="0"/>
          </a:xfrm>
          <a:prstGeom prst="line">
            <a:avLst/>
          </a:prstGeom>
          <a:noFill/>
          <a:ln w="19050">
            <a:solidFill>
              <a:schemeClr val="accent4"/>
            </a:solidFill>
            <a:prstDash val="solid"/>
            <a:tailEnd type="triangle"/>
          </a:ln>
        </p:spPr>
      </p:sp>
      <p:sp>
        <p:nvSpPr>
          <p:cNvPr id="14" name="r28"/>
          <p:cNvSpPr/>
          <p:nvPr/>
        </p:nvSpPr>
        <p:spPr>
          <a:xfrm>
            <a:off x="2999232" y="1920240"/>
            <a:ext cx="566928" cy="566928"/>
          </a:xfrm>
          <a:prstGeom prst="rect">
            <a:avLst/>
          </a:prstGeom>
          <a:solidFill>
            <a:schemeClr val="bg2"/>
          </a:solidFill>
          <a:ln w="9525">
            <a:solidFill>
              <a:schemeClr val="accent1"/>
            </a:solidFill>
            <a:prstDash val="solid"/>
          </a:ln>
        </p:spPr>
      </p:sp>
      <p:sp>
        <p:nvSpPr>
          <p:cNvPr id="15" name="r29"/>
          <p:cNvSpPr/>
          <p:nvPr/>
        </p:nvSpPr>
        <p:spPr>
          <a:xfrm>
            <a:off x="2935224" y="1984248"/>
            <a:ext cx="566928" cy="566928"/>
          </a:xfrm>
          <a:prstGeom prst="rect">
            <a:avLst/>
          </a:prstGeom>
          <a:solidFill>
            <a:schemeClr val="bg2"/>
          </a:solidFill>
          <a:ln w="9525">
            <a:solidFill>
              <a:schemeClr val="accent1"/>
            </a:solidFill>
            <a:prstDash val="solid"/>
          </a:ln>
        </p:spPr>
      </p:sp>
      <p:sp>
        <p:nvSpPr>
          <p:cNvPr id="16" name="r30"/>
          <p:cNvSpPr/>
          <p:nvPr/>
        </p:nvSpPr>
        <p:spPr>
          <a:xfrm>
            <a:off x="2871216" y="2048256"/>
            <a:ext cx="566928" cy="566928"/>
          </a:xfrm>
          <a:prstGeom prst="rect">
            <a:avLst/>
          </a:prstGeom>
          <a:solidFill>
            <a:schemeClr val="bg2"/>
          </a:solidFill>
          <a:ln w="9525">
            <a:solidFill>
              <a:schemeClr val="accent1"/>
            </a:solidFill>
            <a:prstDash val="solid"/>
          </a:ln>
        </p:spPr>
      </p:sp>
      <p:sp>
        <p:nvSpPr>
          <p:cNvPr id="17" name="r31"/>
          <p:cNvSpPr/>
          <p:nvPr/>
        </p:nvSpPr>
        <p:spPr>
          <a:xfrm>
            <a:off x="2807208" y="2112264"/>
            <a:ext cx="566928" cy="566928"/>
          </a:xfrm>
          <a:prstGeom prst="rect">
            <a:avLst/>
          </a:prstGeom>
          <a:solidFill>
            <a:schemeClr val="bg2"/>
          </a:solidFill>
          <a:ln w="9525">
            <a:solidFill>
              <a:schemeClr val="accent1"/>
            </a:solidFill>
            <a:prstDash val="solid"/>
          </a:ln>
        </p:spPr>
      </p:sp>
      <p:sp>
        <p:nvSpPr>
          <p:cNvPr id="18" name="r32"/>
          <p:cNvSpPr/>
          <p:nvPr/>
        </p:nvSpPr>
        <p:spPr>
          <a:xfrm>
            <a:off x="2743200" y="2176272"/>
            <a:ext cx="566928" cy="566928"/>
          </a:xfrm>
          <a:prstGeom prst="rect">
            <a:avLst/>
          </a:prstGeom>
          <a:solidFill>
            <a:schemeClr val="accent5"/>
          </a:solidFill>
          <a:ln w="9525">
            <a:solidFill>
              <a:schemeClr val="accent1"/>
            </a:solidFill>
            <a:prstDash val="solid"/>
          </a:ln>
        </p:spPr>
      </p:sp>
      <p:sp>
        <p:nvSpPr>
          <p:cNvPr id="19" name="t33"/>
          <p:cNvSpPr txBox="1"/>
          <p:nvPr/>
        </p:nvSpPr>
        <p:spPr>
          <a:xfrm>
            <a:off x="2514600" y="2834640"/>
            <a:ext cx="1280160" cy="256032"/>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F1</a:t>
            </a:r>
            <a:endParaRPr lang="en-US" sz="1200" dirty="0"/>
          </a:p>
        </p:txBody>
      </p:sp>
      <p:sp>
        <p:nvSpPr>
          <p:cNvPr id="20" name="t34"/>
          <p:cNvSpPr txBox="1"/>
          <p:nvPr/>
        </p:nvSpPr>
        <p:spPr>
          <a:xfrm>
            <a:off x="2514600" y="3063240"/>
            <a:ext cx="1280160" cy="228600"/>
          </a:xfrm>
          <a:prstGeom prst="rect">
            <a:avLst/>
          </a:prstGeom>
          <a:noFill/>
          <a:ln/>
        </p:spPr>
        <p:txBody>
          <a:bodyPr wrap="square" lIns="0" tIns="0" rIns="0" bIns="0" rtlCol="0" anchor="ctr"/>
          <a:lstStyle/>
          <a:p>
            <a:pPr algn="ctr" indent="0" marL="0">
              <a:buNone/>
            </a:pPr>
            <a:r>
              <a:rPr lang="en-US" sz="1000" dirty="0">
                <a:solidFill>
                  <a:schemeClr val="accent4"/>
                </a:solidFill>
                <a:latin typeface="Calibri" pitchFamily="34" charset="0"/>
                <a:ea typeface="Calibri" pitchFamily="34" charset="-122"/>
                <a:cs typeface="Calibri" pitchFamily="34" charset="-120"/>
              </a:rPr>
              <a:t>64 × 255 × 255</a:t>
            </a:r>
            <a:endParaRPr lang="en-US" sz="1000" dirty="0"/>
          </a:p>
        </p:txBody>
      </p:sp>
      <p:sp>
        <p:nvSpPr>
          <p:cNvPr id="21" name="a35"/>
          <p:cNvSpPr/>
          <p:nvPr/>
        </p:nvSpPr>
        <p:spPr>
          <a:xfrm>
            <a:off x="3639312" y="2331720"/>
            <a:ext cx="201168" cy="0"/>
          </a:xfrm>
          <a:prstGeom prst="line">
            <a:avLst/>
          </a:prstGeom>
          <a:noFill/>
          <a:ln w="19050">
            <a:solidFill>
              <a:schemeClr val="accent4"/>
            </a:solidFill>
            <a:prstDash val="solid"/>
            <a:tailEnd type="triangle"/>
          </a:ln>
        </p:spPr>
      </p:sp>
      <p:sp>
        <p:nvSpPr>
          <p:cNvPr id="22" name="r36"/>
          <p:cNvSpPr/>
          <p:nvPr/>
        </p:nvSpPr>
        <p:spPr>
          <a:xfrm>
            <a:off x="3867912" y="1673352"/>
            <a:ext cx="1078992" cy="1316736"/>
          </a:xfrm>
          <a:prstGeom prst="roundRect">
            <a:avLst>
              <a:gd name="adj" fmla="val 5085"/>
            </a:avLst>
          </a:prstGeom>
          <a:solidFill>
            <a:schemeClr val="tx2"/>
          </a:solidFill>
          <a:ln/>
        </p:spPr>
      </p:sp>
      <p:sp>
        <p:nvSpPr>
          <p:cNvPr id="23" name="t37"/>
          <p:cNvSpPr txBox="1"/>
          <p:nvPr/>
        </p:nvSpPr>
        <p:spPr>
          <a:xfrm>
            <a:off x="3867912" y="1728216"/>
            <a:ext cx="1078992"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Conv2</a:t>
            </a:r>
            <a:endParaRPr lang="en-US" sz="1500" dirty="0"/>
          </a:p>
        </p:txBody>
      </p:sp>
      <p:sp>
        <p:nvSpPr>
          <p:cNvPr id="24" name="t38"/>
          <p:cNvSpPr txBox="1"/>
          <p:nvPr/>
        </p:nvSpPr>
        <p:spPr>
          <a:xfrm>
            <a:off x="3867912" y="2039112"/>
            <a:ext cx="1078992" cy="274320"/>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1 × 1</a:t>
            </a:r>
            <a:endParaRPr lang="en-US" sz="1300" dirty="0"/>
          </a:p>
        </p:txBody>
      </p:sp>
      <p:sp>
        <p:nvSpPr>
          <p:cNvPr id="25" name="t39"/>
          <p:cNvSpPr txBox="1"/>
          <p:nvPr/>
        </p:nvSpPr>
        <p:spPr>
          <a:xfrm>
            <a:off x="3867912" y="2313432"/>
            <a:ext cx="1078992" cy="274320"/>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64 → 32</a:t>
            </a:r>
            <a:endParaRPr lang="en-US" sz="1300" dirty="0"/>
          </a:p>
        </p:txBody>
      </p:sp>
      <p:sp>
        <p:nvSpPr>
          <p:cNvPr id="26" name="t40"/>
          <p:cNvSpPr txBox="1"/>
          <p:nvPr/>
        </p:nvSpPr>
        <p:spPr>
          <a:xfrm>
            <a:off x="3867912" y="2606040"/>
            <a:ext cx="1078992" cy="274320"/>
          </a:xfrm>
          <a:prstGeom prst="rect">
            <a:avLst/>
          </a:prstGeom>
          <a:noFill/>
          <a:ln/>
        </p:spPr>
        <p:txBody>
          <a:bodyPr wrap="square" lIns="0" tIns="0" rIns="0" bIns="0" rtlCol="0" anchor="ctr"/>
          <a:lstStyle/>
          <a:p>
            <a:pPr algn="ctr" indent="0" marL="0">
              <a:buNone/>
            </a:pPr>
            <a:r>
              <a:rPr lang="en-US" sz="1100" b="1" dirty="0">
                <a:solidFill>
                  <a:schemeClr val="accent5"/>
                </a:solidFill>
                <a:latin typeface="Calibri" pitchFamily="34" charset="0"/>
                <a:ea typeface="Calibri" pitchFamily="34" charset="-122"/>
                <a:cs typeface="Calibri" pitchFamily="34" charset="-120"/>
              </a:rPr>
              <a:t>ReLU</a:t>
            </a:r>
            <a:endParaRPr lang="en-US" sz="1100" dirty="0"/>
          </a:p>
        </p:txBody>
      </p:sp>
      <p:sp>
        <p:nvSpPr>
          <p:cNvPr id="27" name="a41"/>
          <p:cNvSpPr/>
          <p:nvPr/>
        </p:nvSpPr>
        <p:spPr>
          <a:xfrm>
            <a:off x="4992624" y="2331720"/>
            <a:ext cx="201168" cy="0"/>
          </a:xfrm>
          <a:prstGeom prst="line">
            <a:avLst/>
          </a:prstGeom>
          <a:noFill/>
          <a:ln w="19050">
            <a:solidFill>
              <a:schemeClr val="accent4"/>
            </a:solidFill>
            <a:prstDash val="solid"/>
            <a:tailEnd type="triangle"/>
          </a:ln>
        </p:spPr>
      </p:sp>
      <p:sp>
        <p:nvSpPr>
          <p:cNvPr id="28" name="r42"/>
          <p:cNvSpPr/>
          <p:nvPr/>
        </p:nvSpPr>
        <p:spPr>
          <a:xfrm>
            <a:off x="5367528" y="1984248"/>
            <a:ext cx="566928" cy="566928"/>
          </a:xfrm>
          <a:prstGeom prst="rect">
            <a:avLst/>
          </a:prstGeom>
          <a:solidFill>
            <a:schemeClr val="bg2"/>
          </a:solidFill>
          <a:ln w="9525">
            <a:solidFill>
              <a:schemeClr val="accent1"/>
            </a:solidFill>
            <a:prstDash val="solid"/>
          </a:ln>
        </p:spPr>
      </p:sp>
      <p:sp>
        <p:nvSpPr>
          <p:cNvPr id="29" name="r43"/>
          <p:cNvSpPr/>
          <p:nvPr/>
        </p:nvSpPr>
        <p:spPr>
          <a:xfrm>
            <a:off x="5303520" y="2048256"/>
            <a:ext cx="566928" cy="566928"/>
          </a:xfrm>
          <a:prstGeom prst="rect">
            <a:avLst/>
          </a:prstGeom>
          <a:solidFill>
            <a:schemeClr val="bg2"/>
          </a:solidFill>
          <a:ln w="9525">
            <a:solidFill>
              <a:schemeClr val="accent1"/>
            </a:solidFill>
            <a:prstDash val="solid"/>
          </a:ln>
        </p:spPr>
      </p:sp>
      <p:sp>
        <p:nvSpPr>
          <p:cNvPr id="30" name="r44"/>
          <p:cNvSpPr/>
          <p:nvPr/>
        </p:nvSpPr>
        <p:spPr>
          <a:xfrm>
            <a:off x="5239512" y="2112264"/>
            <a:ext cx="566928" cy="566928"/>
          </a:xfrm>
          <a:prstGeom prst="rect">
            <a:avLst/>
          </a:prstGeom>
          <a:solidFill>
            <a:schemeClr val="accent5"/>
          </a:solidFill>
          <a:ln w="9525">
            <a:solidFill>
              <a:schemeClr val="accent1"/>
            </a:solidFill>
            <a:prstDash val="solid"/>
          </a:ln>
        </p:spPr>
      </p:sp>
      <p:sp>
        <p:nvSpPr>
          <p:cNvPr id="31" name="t45"/>
          <p:cNvSpPr txBox="1"/>
          <p:nvPr/>
        </p:nvSpPr>
        <p:spPr>
          <a:xfrm>
            <a:off x="5010912" y="2834640"/>
            <a:ext cx="1152144" cy="256032"/>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F2</a:t>
            </a:r>
            <a:endParaRPr lang="en-US" sz="1200" dirty="0"/>
          </a:p>
        </p:txBody>
      </p:sp>
      <p:sp>
        <p:nvSpPr>
          <p:cNvPr id="32" name="t46"/>
          <p:cNvSpPr txBox="1"/>
          <p:nvPr/>
        </p:nvSpPr>
        <p:spPr>
          <a:xfrm>
            <a:off x="5010912" y="3063240"/>
            <a:ext cx="1152144" cy="228600"/>
          </a:xfrm>
          <a:prstGeom prst="rect">
            <a:avLst/>
          </a:prstGeom>
          <a:noFill/>
          <a:ln/>
        </p:spPr>
        <p:txBody>
          <a:bodyPr wrap="square" lIns="0" tIns="0" rIns="0" bIns="0" rtlCol="0" anchor="ctr"/>
          <a:lstStyle/>
          <a:p>
            <a:pPr algn="ctr" indent="0" marL="0">
              <a:buNone/>
            </a:pPr>
            <a:r>
              <a:rPr lang="en-US" sz="1000" dirty="0">
                <a:solidFill>
                  <a:schemeClr val="accent4"/>
                </a:solidFill>
                <a:latin typeface="Calibri" pitchFamily="34" charset="0"/>
                <a:ea typeface="Calibri" pitchFamily="34" charset="-122"/>
                <a:cs typeface="Calibri" pitchFamily="34" charset="-120"/>
              </a:rPr>
              <a:t>32 × 255 × 255</a:t>
            </a:r>
            <a:endParaRPr lang="en-US" sz="1000" dirty="0"/>
          </a:p>
        </p:txBody>
      </p:sp>
      <p:sp>
        <p:nvSpPr>
          <p:cNvPr id="33" name="a47"/>
          <p:cNvSpPr/>
          <p:nvPr/>
        </p:nvSpPr>
        <p:spPr>
          <a:xfrm>
            <a:off x="6007608" y="2331720"/>
            <a:ext cx="201168" cy="0"/>
          </a:xfrm>
          <a:prstGeom prst="line">
            <a:avLst/>
          </a:prstGeom>
          <a:noFill/>
          <a:ln w="19050">
            <a:solidFill>
              <a:schemeClr val="accent4"/>
            </a:solidFill>
            <a:prstDash val="solid"/>
            <a:tailEnd type="triangle"/>
          </a:ln>
        </p:spPr>
      </p:sp>
      <p:sp>
        <p:nvSpPr>
          <p:cNvPr id="34" name="r48"/>
          <p:cNvSpPr/>
          <p:nvPr/>
        </p:nvSpPr>
        <p:spPr>
          <a:xfrm>
            <a:off x="6236208" y="1673352"/>
            <a:ext cx="1078992" cy="1316736"/>
          </a:xfrm>
          <a:prstGeom prst="roundRect">
            <a:avLst>
              <a:gd name="adj" fmla="val 5085"/>
            </a:avLst>
          </a:prstGeom>
          <a:solidFill>
            <a:schemeClr val="tx2"/>
          </a:solidFill>
          <a:ln/>
        </p:spPr>
      </p:sp>
      <p:sp>
        <p:nvSpPr>
          <p:cNvPr id="35" name="t49"/>
          <p:cNvSpPr txBox="1"/>
          <p:nvPr/>
        </p:nvSpPr>
        <p:spPr>
          <a:xfrm>
            <a:off x="6236208" y="1728216"/>
            <a:ext cx="1078992" cy="29260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Conv3</a:t>
            </a:r>
            <a:endParaRPr lang="en-US" sz="1500" dirty="0"/>
          </a:p>
        </p:txBody>
      </p:sp>
      <p:sp>
        <p:nvSpPr>
          <p:cNvPr id="36" name="t50"/>
          <p:cNvSpPr txBox="1"/>
          <p:nvPr/>
        </p:nvSpPr>
        <p:spPr>
          <a:xfrm>
            <a:off x="6236208" y="2039112"/>
            <a:ext cx="1078992" cy="274320"/>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5 × 5</a:t>
            </a:r>
            <a:endParaRPr lang="en-US" sz="1300" dirty="0"/>
          </a:p>
        </p:txBody>
      </p:sp>
      <p:sp>
        <p:nvSpPr>
          <p:cNvPr id="37" name="t51"/>
          <p:cNvSpPr txBox="1"/>
          <p:nvPr/>
        </p:nvSpPr>
        <p:spPr>
          <a:xfrm>
            <a:off x="6236208" y="2313432"/>
            <a:ext cx="1078992" cy="274320"/>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32 → 1</a:t>
            </a:r>
            <a:endParaRPr lang="en-US" sz="1300" dirty="0"/>
          </a:p>
        </p:txBody>
      </p:sp>
      <p:sp>
        <p:nvSpPr>
          <p:cNvPr id="38" name="t52"/>
          <p:cNvSpPr txBox="1"/>
          <p:nvPr/>
        </p:nvSpPr>
        <p:spPr>
          <a:xfrm>
            <a:off x="6236208" y="2606040"/>
            <a:ext cx="1078992" cy="274320"/>
          </a:xfrm>
          <a:prstGeom prst="rect">
            <a:avLst/>
          </a:prstGeom>
          <a:noFill/>
          <a:ln/>
        </p:spPr>
        <p:txBody>
          <a:bodyPr wrap="square" lIns="0" tIns="0" rIns="0" bIns="0" rtlCol="0" anchor="ctr"/>
          <a:lstStyle/>
          <a:p>
            <a:pPr algn="ctr" indent="0" marL="0">
              <a:buNone/>
            </a:pPr>
            <a:r>
              <a:rPr lang="en-US" sz="1100" b="1" dirty="0">
                <a:solidFill>
                  <a:schemeClr val="accent3"/>
                </a:solidFill>
                <a:latin typeface="Calibri" pitchFamily="34" charset="0"/>
                <a:ea typeface="Calibri" pitchFamily="34" charset="-122"/>
                <a:cs typeface="Calibri" pitchFamily="34" charset="-120"/>
              </a:rPr>
              <a:t>no activation</a:t>
            </a:r>
            <a:endParaRPr lang="en-US" sz="1100" dirty="0"/>
          </a:p>
        </p:txBody>
      </p:sp>
      <p:sp>
        <p:nvSpPr>
          <p:cNvPr id="39" name="a53"/>
          <p:cNvSpPr/>
          <p:nvPr/>
        </p:nvSpPr>
        <p:spPr>
          <a:xfrm>
            <a:off x="7360920" y="2331720"/>
            <a:ext cx="201168" cy="0"/>
          </a:xfrm>
          <a:prstGeom prst="line">
            <a:avLst/>
          </a:prstGeom>
          <a:noFill/>
          <a:ln w="19050">
            <a:solidFill>
              <a:schemeClr val="accent4"/>
            </a:solidFill>
            <a:prstDash val="solid"/>
            <a:tailEnd type="triangle"/>
          </a:ln>
        </p:spPr>
      </p:sp>
      <p:sp>
        <p:nvSpPr>
          <p:cNvPr id="40" name="r54"/>
          <p:cNvSpPr/>
          <p:nvPr/>
        </p:nvSpPr>
        <p:spPr>
          <a:xfrm>
            <a:off x="7607808" y="2048256"/>
            <a:ext cx="566928" cy="566928"/>
          </a:xfrm>
          <a:prstGeom prst="rect">
            <a:avLst/>
          </a:prstGeom>
          <a:solidFill>
            <a:schemeClr val="accent5"/>
          </a:solidFill>
          <a:ln w="9525">
            <a:solidFill>
              <a:schemeClr val="accent1"/>
            </a:solidFill>
            <a:prstDash val="solid"/>
          </a:ln>
        </p:spPr>
      </p:sp>
      <p:sp>
        <p:nvSpPr>
          <p:cNvPr id="41" name="t55"/>
          <p:cNvSpPr txBox="1"/>
          <p:nvPr/>
        </p:nvSpPr>
        <p:spPr>
          <a:xfrm>
            <a:off x="7379208" y="2834640"/>
            <a:ext cx="1024128" cy="256032"/>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Output</a:t>
            </a:r>
            <a:endParaRPr lang="en-US" sz="1200" dirty="0"/>
          </a:p>
        </p:txBody>
      </p:sp>
      <p:sp>
        <p:nvSpPr>
          <p:cNvPr id="42" name="t56"/>
          <p:cNvSpPr txBox="1"/>
          <p:nvPr/>
        </p:nvSpPr>
        <p:spPr>
          <a:xfrm>
            <a:off x="7379208" y="3063240"/>
            <a:ext cx="1024128" cy="228600"/>
          </a:xfrm>
          <a:prstGeom prst="rect">
            <a:avLst/>
          </a:prstGeom>
          <a:noFill/>
          <a:ln/>
        </p:spPr>
        <p:txBody>
          <a:bodyPr wrap="square" lIns="0" tIns="0" rIns="0" bIns="0" rtlCol="0" anchor="ctr"/>
          <a:lstStyle/>
          <a:p>
            <a:pPr algn="ctr" indent="0" marL="0">
              <a:buNone/>
            </a:pPr>
            <a:r>
              <a:rPr lang="en-US" sz="1000" dirty="0">
                <a:solidFill>
                  <a:schemeClr val="accent4"/>
                </a:solidFill>
                <a:latin typeface="Calibri" pitchFamily="34" charset="0"/>
                <a:ea typeface="Calibri" pitchFamily="34" charset="-122"/>
                <a:cs typeface="Calibri" pitchFamily="34" charset="-120"/>
              </a:rPr>
              <a:t>1 × 255 × 255</a:t>
            </a:r>
            <a:endParaRPr lang="en-US" sz="1000" dirty="0"/>
          </a:p>
        </p:txBody>
      </p:sp>
      <p:sp>
        <p:nvSpPr>
          <p:cNvPr id="43" name="r57"/>
          <p:cNvSpPr/>
          <p:nvPr/>
        </p:nvSpPr>
        <p:spPr>
          <a:xfrm>
            <a:off x="457200" y="3767328"/>
            <a:ext cx="2606040" cy="749808"/>
          </a:xfrm>
          <a:prstGeom prst="roundRect">
            <a:avLst>
              <a:gd name="adj" fmla="val 7317"/>
            </a:avLst>
          </a:prstGeom>
          <a:solidFill>
            <a:schemeClr val="bg2"/>
          </a:solidFill>
          <a:ln/>
        </p:spPr>
      </p:sp>
      <p:sp>
        <p:nvSpPr>
          <p:cNvPr id="44" name="t58"/>
          <p:cNvSpPr txBox="1"/>
          <p:nvPr/>
        </p:nvSpPr>
        <p:spPr>
          <a:xfrm>
            <a:off x="640080" y="3831336"/>
            <a:ext cx="228600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Stride = 1</a:t>
            </a:r>
            <a:endParaRPr lang="en-US" sz="1500" dirty="0"/>
          </a:p>
        </p:txBody>
      </p:sp>
      <p:sp>
        <p:nvSpPr>
          <p:cNvPr id="45" name="t59"/>
          <p:cNvSpPr txBox="1"/>
          <p:nvPr/>
        </p:nvSpPr>
        <p:spPr>
          <a:xfrm>
            <a:off x="640080" y="4142232"/>
            <a:ext cx="228600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all three layers</a:t>
            </a:r>
            <a:endParaRPr lang="en-US" sz="1200" dirty="0"/>
          </a:p>
        </p:txBody>
      </p:sp>
      <p:sp>
        <p:nvSpPr>
          <p:cNvPr id="46" name="r60"/>
          <p:cNvSpPr/>
          <p:nvPr/>
        </p:nvSpPr>
        <p:spPr>
          <a:xfrm>
            <a:off x="3246120" y="3767328"/>
            <a:ext cx="2606040" cy="749808"/>
          </a:xfrm>
          <a:prstGeom prst="roundRect">
            <a:avLst>
              <a:gd name="adj" fmla="val 7317"/>
            </a:avLst>
          </a:prstGeom>
          <a:solidFill>
            <a:schemeClr val="bg2"/>
          </a:solidFill>
          <a:ln/>
        </p:spPr>
      </p:sp>
      <p:sp>
        <p:nvSpPr>
          <p:cNvPr id="47" name="t61"/>
          <p:cNvSpPr txBox="1"/>
          <p:nvPr/>
        </p:nvSpPr>
        <p:spPr>
          <a:xfrm>
            <a:off x="3429000" y="3831336"/>
            <a:ext cx="228600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Cross-correlation</a:t>
            </a:r>
            <a:endParaRPr lang="en-US" sz="1500" dirty="0"/>
          </a:p>
        </p:txBody>
      </p:sp>
      <p:sp>
        <p:nvSpPr>
          <p:cNvPr id="48" name="t62"/>
          <p:cNvSpPr txBox="1"/>
          <p:nvPr/>
        </p:nvSpPr>
        <p:spPr>
          <a:xfrm>
            <a:off x="3429000" y="4142232"/>
            <a:ext cx="228600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kernels are not flipped</a:t>
            </a:r>
            <a:endParaRPr lang="en-US" sz="1200" dirty="0"/>
          </a:p>
        </p:txBody>
      </p:sp>
      <p:sp>
        <p:nvSpPr>
          <p:cNvPr id="49" name="r63"/>
          <p:cNvSpPr/>
          <p:nvPr/>
        </p:nvSpPr>
        <p:spPr>
          <a:xfrm>
            <a:off x="6035040" y="3767328"/>
            <a:ext cx="2606040" cy="749808"/>
          </a:xfrm>
          <a:prstGeom prst="roundRect">
            <a:avLst>
              <a:gd name="adj" fmla="val 7317"/>
            </a:avLst>
          </a:prstGeom>
          <a:solidFill>
            <a:schemeClr val="bg2"/>
          </a:solidFill>
          <a:ln/>
        </p:spPr>
      </p:sp>
      <p:sp>
        <p:nvSpPr>
          <p:cNvPr id="50" name="t64"/>
          <p:cNvSpPr txBox="1"/>
          <p:nvPr/>
        </p:nvSpPr>
        <p:spPr>
          <a:xfrm>
            <a:off x="6217920" y="3831336"/>
            <a:ext cx="228600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Replicate-edge padding</a:t>
            </a:r>
            <a:endParaRPr lang="en-US" sz="1500" dirty="0"/>
          </a:p>
        </p:txBody>
      </p:sp>
      <p:sp>
        <p:nvSpPr>
          <p:cNvPr id="51" name="t65"/>
          <p:cNvSpPr txBox="1"/>
          <p:nvPr/>
        </p:nvSpPr>
        <p:spPr>
          <a:xfrm>
            <a:off x="6217920" y="4142232"/>
            <a:ext cx="2286000" cy="27432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spatial size preserved</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522 M MACs per frame — Conv1 dominates</a:t>
            </a:r>
            <a:endParaRPr lang="en-US" sz="2400" dirty="0"/>
          </a:p>
        </p:txBody>
      </p:sp>
      <p:graphicFrame>
        <p:nvGraphicFramePr>
          <p:cNvPr id="3" name="Chart 0" descr=""/>
          <p:cNvGraphicFramePr/>
          <p:nvPr/>
        </p:nvGraphicFramePr>
        <p:xfrm>
          <a:off x="365760" y="914400"/>
          <a:ext cx="4206240" cy="3749040"/>
        </p:xfrm>
        <a:graphic xmlns:a="http://schemas.openxmlformats.org/drawingml/2006/main">
          <a:graphicData uri="http://schemas.openxmlformats.org/drawingml/2006/chart">
            <c:chart xmlns:c="http://schemas.openxmlformats.org/drawingml/2006/chart" r:id="rId1"/>
          </a:graphicData>
        </a:graphic>
      </p:graphicFrame>
      <p:sp>
        <p:nvSpPr>
          <p:cNvPr id="4" name="t66"/>
          <p:cNvSpPr txBox="1"/>
          <p:nvPr/>
        </p:nvSpPr>
        <p:spPr>
          <a:xfrm>
            <a:off x="4846320" y="914400"/>
            <a:ext cx="3840480" cy="566928"/>
          </a:xfrm>
          <a:prstGeom prst="rect">
            <a:avLst/>
          </a:prstGeom>
          <a:noFill/>
          <a:ln/>
        </p:spPr>
        <p:txBody>
          <a:bodyPr wrap="square" lIns="0" tIns="0" rIns="0" bIns="0" rtlCol="0" anchor="ctr"/>
          <a:lstStyle/>
          <a:p>
            <a:pPr indent="0" marL="0">
              <a:buNone/>
            </a:pPr>
            <a:r>
              <a:rPr lang="en-US" sz="3600" b="1" dirty="0">
                <a:solidFill>
                  <a:schemeClr val="tx2"/>
                </a:solidFill>
                <a:latin typeface="Arial" pitchFamily="34" charset="0"/>
                <a:ea typeface="Arial" pitchFamily="34" charset="-122"/>
                <a:cs typeface="Arial" pitchFamily="34" charset="-120"/>
              </a:rPr>
              <a:t>522,280,800</a:t>
            </a:r>
            <a:endParaRPr lang="en-US" sz="3600" dirty="0"/>
          </a:p>
        </p:txBody>
      </p:sp>
      <p:sp>
        <p:nvSpPr>
          <p:cNvPr id="5" name="t67"/>
          <p:cNvSpPr txBox="1"/>
          <p:nvPr/>
        </p:nvSpPr>
        <p:spPr>
          <a:xfrm>
            <a:off x="4846320" y="1463040"/>
            <a:ext cx="3840480" cy="274320"/>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MAC per 255 × 255 frame  ·  Conv1 = 64.54 %</a:t>
            </a:r>
            <a:endParaRPr lang="en-US" sz="1300" dirty="0"/>
          </a:p>
        </p:txBody>
      </p:sp>
      <p:sp>
        <p:nvSpPr>
          <p:cNvPr id="6" name="r68"/>
          <p:cNvSpPr/>
          <p:nvPr/>
        </p:nvSpPr>
        <p:spPr>
          <a:xfrm>
            <a:off x="4846320" y="1920240"/>
            <a:ext cx="1847088" cy="2697480"/>
          </a:xfrm>
          <a:prstGeom prst="roundRect">
            <a:avLst>
              <a:gd name="adj" fmla="val 2970"/>
            </a:avLst>
          </a:prstGeom>
          <a:solidFill>
            <a:schemeClr val="bg2"/>
          </a:solidFill>
          <a:ln/>
        </p:spPr>
      </p:sp>
      <p:sp>
        <p:nvSpPr>
          <p:cNvPr id="7" name="t69"/>
          <p:cNvSpPr txBox="1"/>
          <p:nvPr/>
        </p:nvSpPr>
        <p:spPr>
          <a:xfrm>
            <a:off x="4983480" y="2011680"/>
            <a:ext cx="164592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Fits hardware</a:t>
            </a:r>
            <a:endParaRPr lang="en-US" sz="1400" dirty="0"/>
          </a:p>
        </p:txBody>
      </p:sp>
      <p:sp>
        <p:nvSpPr>
          <p:cNvPr id="8" name="t70"/>
          <p:cNvSpPr txBox="1"/>
          <p:nvPr/>
        </p:nvSpPr>
        <p:spPr>
          <a:xfrm>
            <a:off x="4956048" y="2359152"/>
            <a:ext cx="1682496"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Regular convolutions</a:t>
            </a:r>
            <a:endParaRPr lang="en-US" sz="1300" dirty="0"/>
          </a:p>
          <a:p>
            <a:pPr marL="177800" indent="-1778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High input reuse</a:t>
            </a:r>
            <a:endParaRPr lang="en-US" sz="1300" dirty="0"/>
          </a:p>
          <a:p>
            <a:pPr marL="177800" indent="-1778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Parallel output channels</a:t>
            </a:r>
            <a:endParaRPr lang="en-US" sz="1300" dirty="0"/>
          </a:p>
          <a:p>
            <a:pPr marL="177800" indent="-1778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Layers can pipeline</a:t>
            </a:r>
            <a:endParaRPr lang="en-US" sz="1300" dirty="0"/>
          </a:p>
        </p:txBody>
      </p:sp>
      <p:sp>
        <p:nvSpPr>
          <p:cNvPr id="9" name="r71"/>
          <p:cNvSpPr/>
          <p:nvPr/>
        </p:nvSpPr>
        <p:spPr>
          <a:xfrm>
            <a:off x="6839712" y="1920240"/>
            <a:ext cx="1847088" cy="2697480"/>
          </a:xfrm>
          <a:prstGeom prst="roundRect">
            <a:avLst>
              <a:gd name="adj" fmla="val 2970"/>
            </a:avLst>
          </a:prstGeom>
          <a:solidFill>
            <a:srgbClr val="FDF3E3"/>
          </a:solidFill>
          <a:ln/>
        </p:spPr>
      </p:sp>
      <p:sp>
        <p:nvSpPr>
          <p:cNvPr id="10" name="t72"/>
          <p:cNvSpPr txBox="1"/>
          <p:nvPr/>
        </p:nvSpPr>
        <p:spPr>
          <a:xfrm>
            <a:off x="6976872" y="2011680"/>
            <a:ext cx="1645920" cy="320040"/>
          </a:xfrm>
          <a:prstGeom prst="rect">
            <a:avLst/>
          </a:prstGeom>
          <a:noFill/>
          <a:ln/>
        </p:spPr>
        <p:txBody>
          <a:bodyPr wrap="square" lIns="0" tIns="0" rIns="0" bIns="0" rtlCol="0" anchor="ctr"/>
          <a:lstStyle/>
          <a:p>
            <a:pPr indent="0" marL="0">
              <a:buNone/>
            </a:pPr>
            <a:r>
              <a:rPr lang="en-US" sz="1400" b="1" dirty="0">
                <a:solidFill>
                  <a:srgbClr val="A4661A"/>
                </a:solidFill>
                <a:latin typeface="Calibri" pitchFamily="34" charset="0"/>
                <a:ea typeface="Calibri" pitchFamily="34" charset="-122"/>
                <a:cs typeface="Calibri" pitchFamily="34" charset="-120"/>
              </a:rPr>
              <a:t>Challenges</a:t>
            </a:r>
            <a:endParaRPr lang="en-US" sz="1400" dirty="0"/>
          </a:p>
        </p:txBody>
      </p:sp>
      <p:sp>
        <p:nvSpPr>
          <p:cNvPr id="11" name="t73"/>
          <p:cNvSpPr txBox="1"/>
          <p:nvPr/>
        </p:nvSpPr>
        <p:spPr>
          <a:xfrm>
            <a:off x="6949440" y="2359152"/>
            <a:ext cx="1682496"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Large intermediate maps</a:t>
            </a:r>
            <a:endParaRPr lang="en-US" sz="1300" dirty="0"/>
          </a:p>
          <a:p>
            <a:pPr marL="177800" indent="-1778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Deep sums (Conv3: 800 terms)</a:t>
            </a:r>
            <a:endParaRPr lang="en-US" sz="1300" dirty="0"/>
          </a:p>
          <a:p>
            <a:pPr marL="177800" indent="-1778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DDR / DMA traffic</a:t>
            </a:r>
            <a:endParaRPr lang="en-US" sz="1300" dirty="0"/>
          </a:p>
          <a:p>
            <a:pPr marL="177800" indent="-1778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Fixed-point precision</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One streaming pass: feature maps never touch DDR</a:t>
            </a:r>
            <a:endParaRPr lang="en-US" sz="2400" dirty="0"/>
          </a:p>
        </p:txBody>
      </p:sp>
      <p:sp>
        <p:nvSpPr>
          <p:cNvPr id="3" name="r74"/>
          <p:cNvSpPr/>
          <p:nvPr/>
        </p:nvSpPr>
        <p:spPr>
          <a:xfrm>
            <a:off x="365760" y="914400"/>
            <a:ext cx="1783080" cy="2971800"/>
          </a:xfrm>
          <a:prstGeom prst="roundRect">
            <a:avLst>
              <a:gd name="adj" fmla="val 3077"/>
            </a:avLst>
          </a:prstGeom>
          <a:solidFill>
            <a:schemeClr val="bg2"/>
          </a:solidFill>
          <a:ln/>
        </p:spPr>
      </p:sp>
      <p:sp>
        <p:nvSpPr>
          <p:cNvPr id="4" name="t75"/>
          <p:cNvSpPr txBox="1"/>
          <p:nvPr/>
        </p:nvSpPr>
        <p:spPr>
          <a:xfrm>
            <a:off x="502920" y="969264"/>
            <a:ext cx="1554480" cy="256032"/>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PS · DDR</a:t>
            </a:r>
            <a:endParaRPr lang="en-US" sz="1200" dirty="0"/>
          </a:p>
        </p:txBody>
      </p:sp>
      <p:sp>
        <p:nvSpPr>
          <p:cNvPr id="5" name="r76"/>
          <p:cNvSpPr/>
          <p:nvPr/>
        </p:nvSpPr>
        <p:spPr>
          <a:xfrm>
            <a:off x="2286000" y="914400"/>
            <a:ext cx="6492240" cy="2971800"/>
          </a:xfrm>
          <a:prstGeom prst="roundRect">
            <a:avLst>
              <a:gd name="adj" fmla="val 1846"/>
            </a:avLst>
          </a:prstGeom>
          <a:solidFill>
            <a:srgbClr val="F4F8FA"/>
          </a:solidFill>
          <a:ln w="9525">
            <a:solidFill>
              <a:srgbClr val="D5E2EA"/>
            </a:solidFill>
            <a:prstDash val="solid"/>
          </a:ln>
        </p:spPr>
      </p:sp>
      <p:sp>
        <p:nvSpPr>
          <p:cNvPr id="6" name="t77"/>
          <p:cNvSpPr txBox="1"/>
          <p:nvPr/>
        </p:nvSpPr>
        <p:spPr>
          <a:xfrm>
            <a:off x="2423160" y="969264"/>
            <a:ext cx="3657600" cy="256032"/>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PL · srcnn_axis_dataflow_top (200 MHz)</a:t>
            </a:r>
            <a:endParaRPr lang="en-US" sz="1200" dirty="0"/>
          </a:p>
        </p:txBody>
      </p:sp>
      <p:sp>
        <p:nvSpPr>
          <p:cNvPr id="7" name="r78"/>
          <p:cNvSpPr/>
          <p:nvPr/>
        </p:nvSpPr>
        <p:spPr>
          <a:xfrm>
            <a:off x="502920" y="1298448"/>
            <a:ext cx="1508760" cy="566928"/>
          </a:xfrm>
          <a:prstGeom prst="roundRect">
            <a:avLst>
              <a:gd name="adj" fmla="val 9677"/>
            </a:avLst>
          </a:prstGeom>
          <a:solidFill>
            <a:schemeClr val="bg1"/>
          </a:solidFill>
          <a:ln w="12700">
            <a:solidFill>
              <a:srgbClr val="B9CCD8"/>
            </a:solidFill>
            <a:prstDash val="solid"/>
          </a:ln>
        </p:spPr>
      </p:sp>
      <p:sp>
        <p:nvSpPr>
          <p:cNvPr id="8" name="t79"/>
          <p:cNvSpPr txBox="1"/>
          <p:nvPr/>
        </p:nvSpPr>
        <p:spPr>
          <a:xfrm>
            <a:off x="566928" y="1344168"/>
            <a:ext cx="1371600" cy="256032"/>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Model buffer</a:t>
            </a:r>
            <a:endParaRPr lang="en-US" sz="1200" dirty="0"/>
          </a:p>
        </p:txBody>
      </p:sp>
      <p:sp>
        <p:nvSpPr>
          <p:cNvPr id="9" name="t80"/>
          <p:cNvSpPr txBox="1"/>
          <p:nvPr/>
        </p:nvSpPr>
        <p:spPr>
          <a:xfrm>
            <a:off x="566928" y="1591056"/>
            <a:ext cx="1371600" cy="228600"/>
          </a:xfrm>
          <a:prstGeom prst="rect">
            <a:avLst/>
          </a:prstGeom>
          <a:noFill/>
          <a:ln/>
        </p:spPr>
        <p:txBody>
          <a:bodyPr wrap="square" lIns="0" tIns="0" rIns="0" bIns="0" rtlCol="0" anchor="ctr"/>
          <a:lstStyle/>
          <a:p>
            <a:pPr algn="ctr" indent="0" marL="0">
              <a:buNone/>
            </a:pPr>
            <a:r>
              <a:rPr lang="en-US" sz="1000" dirty="0">
                <a:solidFill>
                  <a:schemeClr val="accent4"/>
                </a:solidFill>
                <a:latin typeface="Calibri" pitchFamily="34" charset="0"/>
                <a:ea typeface="Calibri" pitchFamily="34" charset="-122"/>
                <a:cs typeface="Calibri" pitchFamily="34" charset="-120"/>
              </a:rPr>
              <a:t>8,129 words · 32,516 B</a:t>
            </a:r>
            <a:endParaRPr lang="en-US" sz="1000" dirty="0"/>
          </a:p>
        </p:txBody>
      </p:sp>
      <p:sp>
        <p:nvSpPr>
          <p:cNvPr id="10" name="r81"/>
          <p:cNvSpPr/>
          <p:nvPr/>
        </p:nvSpPr>
        <p:spPr>
          <a:xfrm>
            <a:off x="502920" y="2157984"/>
            <a:ext cx="1508760" cy="566928"/>
          </a:xfrm>
          <a:prstGeom prst="roundRect">
            <a:avLst>
              <a:gd name="adj" fmla="val 9677"/>
            </a:avLst>
          </a:prstGeom>
          <a:solidFill>
            <a:schemeClr val="bg1"/>
          </a:solidFill>
          <a:ln w="12700">
            <a:solidFill>
              <a:srgbClr val="B9CCD8"/>
            </a:solidFill>
            <a:prstDash val="solid"/>
          </a:ln>
        </p:spPr>
      </p:sp>
      <p:sp>
        <p:nvSpPr>
          <p:cNvPr id="11" name="t82"/>
          <p:cNvSpPr txBox="1"/>
          <p:nvPr/>
        </p:nvSpPr>
        <p:spPr>
          <a:xfrm>
            <a:off x="566928" y="2203704"/>
            <a:ext cx="1371600" cy="256032"/>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Input frame</a:t>
            </a:r>
            <a:endParaRPr lang="en-US" sz="1200" dirty="0"/>
          </a:p>
        </p:txBody>
      </p:sp>
      <p:sp>
        <p:nvSpPr>
          <p:cNvPr id="12" name="t83"/>
          <p:cNvSpPr txBox="1"/>
          <p:nvPr/>
        </p:nvSpPr>
        <p:spPr>
          <a:xfrm>
            <a:off x="566928" y="2450592"/>
            <a:ext cx="1371600" cy="228600"/>
          </a:xfrm>
          <a:prstGeom prst="rect">
            <a:avLst/>
          </a:prstGeom>
          <a:noFill/>
          <a:ln/>
        </p:spPr>
        <p:txBody>
          <a:bodyPr wrap="square" lIns="0" tIns="0" rIns="0" bIns="0" rtlCol="0" anchor="ctr"/>
          <a:lstStyle/>
          <a:p>
            <a:pPr algn="ctr" indent="0" marL="0">
              <a:buNone/>
            </a:pPr>
            <a:r>
              <a:rPr lang="en-US" sz="1000" dirty="0">
                <a:solidFill>
                  <a:schemeClr val="accent4"/>
                </a:solidFill>
                <a:latin typeface="Calibri" pitchFamily="34" charset="0"/>
                <a:ea typeface="Calibri" pitchFamily="34" charset="-122"/>
                <a:cs typeface="Calibri" pitchFamily="34" charset="-120"/>
              </a:rPr>
              <a:t>65,025 × 32-bit</a:t>
            </a:r>
            <a:endParaRPr lang="en-US" sz="1000" dirty="0"/>
          </a:p>
        </p:txBody>
      </p:sp>
      <p:sp>
        <p:nvSpPr>
          <p:cNvPr id="13" name="r84"/>
          <p:cNvSpPr/>
          <p:nvPr/>
        </p:nvSpPr>
        <p:spPr>
          <a:xfrm>
            <a:off x="502920" y="3127248"/>
            <a:ext cx="1508760" cy="566928"/>
          </a:xfrm>
          <a:prstGeom prst="roundRect">
            <a:avLst>
              <a:gd name="adj" fmla="val 9677"/>
            </a:avLst>
          </a:prstGeom>
          <a:solidFill>
            <a:schemeClr val="bg1"/>
          </a:solidFill>
          <a:ln w="12700">
            <a:solidFill>
              <a:srgbClr val="B9CCD8"/>
            </a:solidFill>
            <a:prstDash val="solid"/>
          </a:ln>
        </p:spPr>
      </p:sp>
      <p:sp>
        <p:nvSpPr>
          <p:cNvPr id="14" name="t85"/>
          <p:cNvSpPr txBox="1"/>
          <p:nvPr/>
        </p:nvSpPr>
        <p:spPr>
          <a:xfrm>
            <a:off x="566928" y="3172968"/>
            <a:ext cx="1371600" cy="256032"/>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Output frame</a:t>
            </a:r>
            <a:endParaRPr lang="en-US" sz="1200" dirty="0"/>
          </a:p>
        </p:txBody>
      </p:sp>
      <p:sp>
        <p:nvSpPr>
          <p:cNvPr id="15" name="t86"/>
          <p:cNvSpPr txBox="1"/>
          <p:nvPr/>
        </p:nvSpPr>
        <p:spPr>
          <a:xfrm>
            <a:off x="566928" y="3419856"/>
            <a:ext cx="1371600" cy="228600"/>
          </a:xfrm>
          <a:prstGeom prst="rect">
            <a:avLst/>
          </a:prstGeom>
          <a:noFill/>
          <a:ln/>
        </p:spPr>
        <p:txBody>
          <a:bodyPr wrap="square" lIns="0" tIns="0" rIns="0" bIns="0" rtlCol="0" anchor="ctr"/>
          <a:lstStyle/>
          <a:p>
            <a:pPr algn="ctr" indent="0" marL="0">
              <a:buNone/>
            </a:pPr>
            <a:r>
              <a:rPr lang="en-US" sz="1000" dirty="0">
                <a:solidFill>
                  <a:schemeClr val="accent4"/>
                </a:solidFill>
                <a:latin typeface="Calibri" pitchFamily="34" charset="0"/>
                <a:ea typeface="Calibri" pitchFamily="34" charset="-122"/>
                <a:cs typeface="Calibri" pitchFamily="34" charset="-120"/>
              </a:rPr>
              <a:t>65,025 × 32-bit</a:t>
            </a:r>
            <a:endParaRPr lang="en-US" sz="1000" dirty="0"/>
          </a:p>
        </p:txBody>
      </p:sp>
      <p:sp>
        <p:nvSpPr>
          <p:cNvPr id="16" name="r87"/>
          <p:cNvSpPr/>
          <p:nvPr/>
        </p:nvSpPr>
        <p:spPr>
          <a:xfrm>
            <a:off x="2468880" y="1298448"/>
            <a:ext cx="1417320" cy="502920"/>
          </a:xfrm>
          <a:prstGeom prst="roundRect">
            <a:avLst>
              <a:gd name="adj" fmla="val 10909"/>
            </a:avLst>
          </a:prstGeom>
          <a:solidFill>
            <a:schemeClr val="accent2"/>
          </a:solidFill>
          <a:ln/>
        </p:spPr>
      </p:sp>
      <p:sp>
        <p:nvSpPr>
          <p:cNvPr id="17" name="t88"/>
          <p:cNvSpPr txBox="1"/>
          <p:nvPr/>
        </p:nvSpPr>
        <p:spPr>
          <a:xfrm>
            <a:off x="2523744" y="1298448"/>
            <a:ext cx="1307592" cy="502920"/>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load_runtime_model</a:t>
            </a:r>
            <a:endParaRPr lang="en-US" sz="1100" dirty="0"/>
          </a:p>
        </p:txBody>
      </p:sp>
      <p:sp>
        <p:nvSpPr>
          <p:cNvPr id="18" name="a89"/>
          <p:cNvSpPr/>
          <p:nvPr/>
        </p:nvSpPr>
        <p:spPr>
          <a:xfrm>
            <a:off x="2011680" y="1545336"/>
            <a:ext cx="438912" cy="0"/>
          </a:xfrm>
          <a:prstGeom prst="line">
            <a:avLst/>
          </a:prstGeom>
          <a:noFill/>
          <a:ln w="19050">
            <a:solidFill>
              <a:schemeClr val="accent2"/>
            </a:solidFill>
            <a:prstDash val="solid"/>
            <a:tailEnd type="triangle"/>
          </a:ln>
        </p:spPr>
      </p:sp>
      <p:sp>
        <p:nvSpPr>
          <p:cNvPr id="19" name="r90"/>
          <p:cNvSpPr/>
          <p:nvPr/>
        </p:nvSpPr>
        <p:spPr>
          <a:xfrm>
            <a:off x="4160520" y="1298448"/>
            <a:ext cx="4434840" cy="502920"/>
          </a:xfrm>
          <a:prstGeom prst="roundRect">
            <a:avLst>
              <a:gd name="adj" fmla="val 10909"/>
            </a:avLst>
          </a:prstGeom>
          <a:solidFill>
            <a:schemeClr val="accent5"/>
          </a:solidFill>
          <a:ln/>
        </p:spPr>
      </p:sp>
      <p:sp>
        <p:nvSpPr>
          <p:cNvPr id="20" name="t91"/>
          <p:cNvSpPr txBox="1"/>
          <p:nvPr/>
        </p:nvSpPr>
        <p:spPr>
          <a:xfrm>
            <a:off x="4215384" y="1298448"/>
            <a:ext cx="4325112" cy="50292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Layer-local weights + bias (on-chip, loaded once per run)</a:t>
            </a:r>
            <a:endParaRPr lang="en-US" sz="1200" dirty="0"/>
          </a:p>
        </p:txBody>
      </p:sp>
      <p:sp>
        <p:nvSpPr>
          <p:cNvPr id="21" name="a92"/>
          <p:cNvSpPr/>
          <p:nvPr/>
        </p:nvSpPr>
        <p:spPr>
          <a:xfrm>
            <a:off x="3886200" y="1545336"/>
            <a:ext cx="256032" cy="0"/>
          </a:xfrm>
          <a:prstGeom prst="line">
            <a:avLst/>
          </a:prstGeom>
          <a:noFill/>
          <a:ln w="19050">
            <a:solidFill>
              <a:schemeClr val="accent2"/>
            </a:solidFill>
            <a:prstDash val="solid"/>
            <a:tailEnd type="triangle"/>
          </a:ln>
        </p:spPr>
      </p:sp>
      <p:sp>
        <p:nvSpPr>
          <p:cNvPr id="22" name="r93"/>
          <p:cNvSpPr/>
          <p:nvPr/>
        </p:nvSpPr>
        <p:spPr>
          <a:xfrm>
            <a:off x="2468880" y="2212848"/>
            <a:ext cx="566928" cy="457200"/>
          </a:xfrm>
          <a:prstGeom prst="roundRect">
            <a:avLst>
              <a:gd name="adj" fmla="val 12000"/>
            </a:avLst>
          </a:prstGeom>
          <a:solidFill>
            <a:schemeClr val="accent4"/>
          </a:solidFill>
          <a:ln/>
        </p:spPr>
      </p:sp>
      <p:sp>
        <p:nvSpPr>
          <p:cNvPr id="23" name="t94"/>
          <p:cNvSpPr txBox="1"/>
          <p:nvPr/>
        </p:nvSpPr>
        <p:spPr>
          <a:xfrm>
            <a:off x="2523744" y="221284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MM2S</a:t>
            </a:r>
            <a:endParaRPr lang="en-US" sz="1200" dirty="0"/>
          </a:p>
        </p:txBody>
      </p:sp>
      <p:sp>
        <p:nvSpPr>
          <p:cNvPr id="24" name="a95"/>
          <p:cNvSpPr/>
          <p:nvPr/>
        </p:nvSpPr>
        <p:spPr>
          <a:xfrm>
            <a:off x="3054096" y="2441448"/>
            <a:ext cx="118872" cy="0"/>
          </a:xfrm>
          <a:prstGeom prst="line">
            <a:avLst/>
          </a:prstGeom>
          <a:noFill/>
          <a:ln w="15875">
            <a:solidFill>
              <a:schemeClr val="tx1"/>
            </a:solidFill>
            <a:prstDash val="solid"/>
            <a:tailEnd type="triangle"/>
          </a:ln>
        </p:spPr>
      </p:sp>
      <p:sp>
        <p:nvSpPr>
          <p:cNvPr id="25" name="r96"/>
          <p:cNvSpPr/>
          <p:nvPr/>
        </p:nvSpPr>
        <p:spPr>
          <a:xfrm>
            <a:off x="3191256" y="2212848"/>
            <a:ext cx="960120" cy="457200"/>
          </a:xfrm>
          <a:prstGeom prst="roundRect">
            <a:avLst>
              <a:gd name="adj" fmla="val 12000"/>
            </a:avLst>
          </a:prstGeom>
          <a:solidFill>
            <a:schemeClr val="tx2"/>
          </a:solidFill>
          <a:ln/>
        </p:spPr>
      </p:sp>
      <p:sp>
        <p:nvSpPr>
          <p:cNvPr id="26" name="t97"/>
          <p:cNvSpPr txBox="1"/>
          <p:nvPr/>
        </p:nvSpPr>
        <p:spPr>
          <a:xfrm>
            <a:off x="3246120" y="2212848"/>
            <a:ext cx="85039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Conv1 OC4</a:t>
            </a:r>
            <a:endParaRPr lang="en-US" sz="1200" dirty="0"/>
          </a:p>
        </p:txBody>
      </p:sp>
      <p:sp>
        <p:nvSpPr>
          <p:cNvPr id="27" name="a98"/>
          <p:cNvSpPr/>
          <p:nvPr/>
        </p:nvSpPr>
        <p:spPr>
          <a:xfrm>
            <a:off x="4169664" y="2441448"/>
            <a:ext cx="118872" cy="0"/>
          </a:xfrm>
          <a:prstGeom prst="line">
            <a:avLst/>
          </a:prstGeom>
          <a:noFill/>
          <a:ln w="15875">
            <a:solidFill>
              <a:schemeClr val="tx1"/>
            </a:solidFill>
            <a:prstDash val="solid"/>
            <a:tailEnd type="triangle"/>
          </a:ln>
        </p:spPr>
      </p:sp>
      <p:sp>
        <p:nvSpPr>
          <p:cNvPr id="28" name="r99"/>
          <p:cNvSpPr/>
          <p:nvPr/>
        </p:nvSpPr>
        <p:spPr>
          <a:xfrm>
            <a:off x="4306824" y="2212848"/>
            <a:ext cx="438912" cy="457200"/>
          </a:xfrm>
          <a:prstGeom prst="roundRect">
            <a:avLst>
              <a:gd name="adj" fmla="val 12500"/>
            </a:avLst>
          </a:prstGeom>
          <a:solidFill>
            <a:schemeClr val="accent1"/>
          </a:solidFill>
          <a:ln/>
        </p:spPr>
      </p:sp>
      <p:sp>
        <p:nvSpPr>
          <p:cNvPr id="29" name="t100"/>
          <p:cNvSpPr txBox="1"/>
          <p:nvPr/>
        </p:nvSpPr>
        <p:spPr>
          <a:xfrm>
            <a:off x="4361688" y="2212848"/>
            <a:ext cx="329184" cy="45720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FIFO</a:t>
            </a:r>
            <a:endParaRPr lang="en-US" sz="1000" dirty="0"/>
          </a:p>
        </p:txBody>
      </p:sp>
      <p:sp>
        <p:nvSpPr>
          <p:cNvPr id="30" name="a101"/>
          <p:cNvSpPr/>
          <p:nvPr/>
        </p:nvSpPr>
        <p:spPr>
          <a:xfrm>
            <a:off x="4764024" y="2441448"/>
            <a:ext cx="118872" cy="0"/>
          </a:xfrm>
          <a:prstGeom prst="line">
            <a:avLst/>
          </a:prstGeom>
          <a:noFill/>
          <a:ln w="15875">
            <a:solidFill>
              <a:schemeClr val="tx1"/>
            </a:solidFill>
            <a:prstDash val="solid"/>
            <a:tailEnd type="triangle"/>
          </a:ln>
        </p:spPr>
      </p:sp>
      <p:sp>
        <p:nvSpPr>
          <p:cNvPr id="31" name="r102"/>
          <p:cNvSpPr/>
          <p:nvPr/>
        </p:nvSpPr>
        <p:spPr>
          <a:xfrm>
            <a:off x="4901184" y="2212848"/>
            <a:ext cx="868680" cy="457200"/>
          </a:xfrm>
          <a:prstGeom prst="roundRect">
            <a:avLst>
              <a:gd name="adj" fmla="val 12000"/>
            </a:avLst>
          </a:prstGeom>
          <a:solidFill>
            <a:schemeClr val="tx2"/>
          </a:solidFill>
          <a:ln/>
        </p:spPr>
      </p:sp>
      <p:sp>
        <p:nvSpPr>
          <p:cNvPr id="32" name="t103"/>
          <p:cNvSpPr txBox="1"/>
          <p:nvPr/>
        </p:nvSpPr>
        <p:spPr>
          <a:xfrm>
            <a:off x="4956048" y="2212848"/>
            <a:ext cx="75895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Conv2</a:t>
            </a:r>
            <a:endParaRPr lang="en-US" sz="1200" dirty="0"/>
          </a:p>
        </p:txBody>
      </p:sp>
      <p:sp>
        <p:nvSpPr>
          <p:cNvPr id="33" name="a104"/>
          <p:cNvSpPr/>
          <p:nvPr/>
        </p:nvSpPr>
        <p:spPr>
          <a:xfrm>
            <a:off x="5788152" y="2441448"/>
            <a:ext cx="118872" cy="0"/>
          </a:xfrm>
          <a:prstGeom prst="line">
            <a:avLst/>
          </a:prstGeom>
          <a:noFill/>
          <a:ln w="15875">
            <a:solidFill>
              <a:schemeClr val="tx1"/>
            </a:solidFill>
            <a:prstDash val="solid"/>
            <a:tailEnd type="triangle"/>
          </a:ln>
        </p:spPr>
      </p:sp>
      <p:sp>
        <p:nvSpPr>
          <p:cNvPr id="34" name="r105"/>
          <p:cNvSpPr/>
          <p:nvPr/>
        </p:nvSpPr>
        <p:spPr>
          <a:xfrm>
            <a:off x="5925312" y="2212848"/>
            <a:ext cx="438912" cy="457200"/>
          </a:xfrm>
          <a:prstGeom prst="roundRect">
            <a:avLst>
              <a:gd name="adj" fmla="val 12500"/>
            </a:avLst>
          </a:prstGeom>
          <a:solidFill>
            <a:schemeClr val="accent1"/>
          </a:solidFill>
          <a:ln/>
        </p:spPr>
      </p:sp>
      <p:sp>
        <p:nvSpPr>
          <p:cNvPr id="35" name="t106"/>
          <p:cNvSpPr txBox="1"/>
          <p:nvPr/>
        </p:nvSpPr>
        <p:spPr>
          <a:xfrm>
            <a:off x="5980176" y="2212848"/>
            <a:ext cx="329184" cy="45720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FIFO</a:t>
            </a:r>
            <a:endParaRPr lang="en-US" sz="1000" dirty="0"/>
          </a:p>
        </p:txBody>
      </p:sp>
      <p:sp>
        <p:nvSpPr>
          <p:cNvPr id="36" name="a107"/>
          <p:cNvSpPr/>
          <p:nvPr/>
        </p:nvSpPr>
        <p:spPr>
          <a:xfrm>
            <a:off x="6382512" y="2441448"/>
            <a:ext cx="118872" cy="0"/>
          </a:xfrm>
          <a:prstGeom prst="line">
            <a:avLst/>
          </a:prstGeom>
          <a:noFill/>
          <a:ln w="15875">
            <a:solidFill>
              <a:schemeClr val="tx1"/>
            </a:solidFill>
            <a:prstDash val="solid"/>
            <a:tailEnd type="triangle"/>
          </a:ln>
        </p:spPr>
      </p:sp>
      <p:sp>
        <p:nvSpPr>
          <p:cNvPr id="37" name="r108"/>
          <p:cNvSpPr/>
          <p:nvPr/>
        </p:nvSpPr>
        <p:spPr>
          <a:xfrm>
            <a:off x="6519672" y="2212848"/>
            <a:ext cx="868680" cy="457200"/>
          </a:xfrm>
          <a:prstGeom prst="roundRect">
            <a:avLst>
              <a:gd name="adj" fmla="val 12000"/>
            </a:avLst>
          </a:prstGeom>
          <a:solidFill>
            <a:schemeClr val="tx2"/>
          </a:solidFill>
          <a:ln/>
        </p:spPr>
      </p:sp>
      <p:sp>
        <p:nvSpPr>
          <p:cNvPr id="38" name="t109"/>
          <p:cNvSpPr txBox="1"/>
          <p:nvPr/>
        </p:nvSpPr>
        <p:spPr>
          <a:xfrm>
            <a:off x="6574536" y="2212848"/>
            <a:ext cx="75895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Conv3</a:t>
            </a:r>
            <a:endParaRPr lang="en-US" sz="1200" dirty="0"/>
          </a:p>
        </p:txBody>
      </p:sp>
      <p:sp>
        <p:nvSpPr>
          <p:cNvPr id="39" name="a110"/>
          <p:cNvSpPr/>
          <p:nvPr/>
        </p:nvSpPr>
        <p:spPr>
          <a:xfrm>
            <a:off x="7406640" y="2441448"/>
            <a:ext cx="118872" cy="0"/>
          </a:xfrm>
          <a:prstGeom prst="line">
            <a:avLst/>
          </a:prstGeom>
          <a:noFill/>
          <a:ln w="15875">
            <a:solidFill>
              <a:schemeClr val="tx1"/>
            </a:solidFill>
            <a:prstDash val="solid"/>
            <a:tailEnd type="triangle"/>
          </a:ln>
        </p:spPr>
      </p:sp>
      <p:sp>
        <p:nvSpPr>
          <p:cNvPr id="40" name="r111"/>
          <p:cNvSpPr/>
          <p:nvPr/>
        </p:nvSpPr>
        <p:spPr>
          <a:xfrm>
            <a:off x="7543800" y="2212848"/>
            <a:ext cx="566928" cy="457200"/>
          </a:xfrm>
          <a:prstGeom prst="roundRect">
            <a:avLst>
              <a:gd name="adj" fmla="val 12000"/>
            </a:avLst>
          </a:prstGeom>
          <a:solidFill>
            <a:schemeClr val="accent4"/>
          </a:solidFill>
          <a:ln/>
        </p:spPr>
      </p:sp>
      <p:sp>
        <p:nvSpPr>
          <p:cNvPr id="41" name="t112"/>
          <p:cNvSpPr txBox="1"/>
          <p:nvPr/>
        </p:nvSpPr>
        <p:spPr>
          <a:xfrm>
            <a:off x="7598664" y="221284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S2MM</a:t>
            </a:r>
            <a:endParaRPr lang="en-US" sz="1200" dirty="0"/>
          </a:p>
        </p:txBody>
      </p:sp>
      <p:sp>
        <p:nvSpPr>
          <p:cNvPr id="42" name="a113"/>
          <p:cNvSpPr/>
          <p:nvPr/>
        </p:nvSpPr>
        <p:spPr>
          <a:xfrm>
            <a:off x="3671316" y="1810512"/>
            <a:ext cx="0" cy="384048"/>
          </a:xfrm>
          <a:prstGeom prst="line">
            <a:avLst/>
          </a:prstGeom>
          <a:noFill/>
          <a:ln w="12700">
            <a:solidFill>
              <a:schemeClr val="accent2"/>
            </a:solidFill>
            <a:prstDash val="solid"/>
            <a:tailEnd type="triangle"/>
          </a:ln>
        </p:spPr>
      </p:sp>
      <p:sp>
        <p:nvSpPr>
          <p:cNvPr id="43" name="a114"/>
          <p:cNvSpPr/>
          <p:nvPr/>
        </p:nvSpPr>
        <p:spPr>
          <a:xfrm>
            <a:off x="5335524" y="1810512"/>
            <a:ext cx="0" cy="384048"/>
          </a:xfrm>
          <a:prstGeom prst="line">
            <a:avLst/>
          </a:prstGeom>
          <a:noFill/>
          <a:ln w="12700">
            <a:solidFill>
              <a:schemeClr val="accent2"/>
            </a:solidFill>
            <a:prstDash val="solid"/>
            <a:tailEnd type="triangle"/>
          </a:ln>
        </p:spPr>
      </p:sp>
      <p:sp>
        <p:nvSpPr>
          <p:cNvPr id="44" name="a115"/>
          <p:cNvSpPr/>
          <p:nvPr/>
        </p:nvSpPr>
        <p:spPr>
          <a:xfrm>
            <a:off x="6954012" y="1810512"/>
            <a:ext cx="0" cy="384048"/>
          </a:xfrm>
          <a:prstGeom prst="line">
            <a:avLst/>
          </a:prstGeom>
          <a:noFill/>
          <a:ln w="12700">
            <a:solidFill>
              <a:schemeClr val="accent2"/>
            </a:solidFill>
            <a:prstDash val="solid"/>
            <a:tailEnd type="triangle"/>
          </a:ln>
        </p:spPr>
      </p:sp>
      <p:sp>
        <p:nvSpPr>
          <p:cNvPr id="45" name="a116"/>
          <p:cNvSpPr/>
          <p:nvPr/>
        </p:nvSpPr>
        <p:spPr>
          <a:xfrm>
            <a:off x="2011680" y="2441448"/>
            <a:ext cx="438912" cy="0"/>
          </a:xfrm>
          <a:prstGeom prst="line">
            <a:avLst/>
          </a:prstGeom>
          <a:noFill/>
          <a:ln w="19050">
            <a:solidFill>
              <a:schemeClr val="tx1"/>
            </a:solidFill>
            <a:prstDash val="solid"/>
            <a:tailEnd type="triangle"/>
          </a:ln>
        </p:spPr>
      </p:sp>
      <p:sp>
        <p:nvSpPr>
          <p:cNvPr id="46" name="a117"/>
          <p:cNvSpPr/>
          <p:nvPr/>
        </p:nvSpPr>
        <p:spPr>
          <a:xfrm>
            <a:off x="7827264" y="2670048"/>
            <a:ext cx="0" cy="740664"/>
          </a:xfrm>
          <a:prstGeom prst="line">
            <a:avLst/>
          </a:prstGeom>
          <a:noFill/>
          <a:ln w="19050">
            <a:solidFill>
              <a:schemeClr val="tx1"/>
            </a:solidFill>
            <a:prstDash val="solid"/>
          </a:ln>
        </p:spPr>
      </p:sp>
      <p:sp>
        <p:nvSpPr>
          <p:cNvPr id="47" name="a118"/>
          <p:cNvSpPr/>
          <p:nvPr/>
        </p:nvSpPr>
        <p:spPr>
          <a:xfrm flipH="1">
            <a:off x="2029968" y="3410712"/>
            <a:ext cx="5797296" cy="0"/>
          </a:xfrm>
          <a:prstGeom prst="line">
            <a:avLst/>
          </a:prstGeom>
          <a:noFill/>
          <a:ln w="19050">
            <a:solidFill>
              <a:schemeClr val="tx1"/>
            </a:solidFill>
            <a:prstDash val="solid"/>
            <a:tailEnd type="triangle"/>
          </a:ln>
        </p:spPr>
      </p:sp>
      <p:sp>
        <p:nvSpPr>
          <p:cNvPr id="48" name="t119"/>
          <p:cNvSpPr txBox="1"/>
          <p:nvPr/>
        </p:nvSpPr>
        <p:spPr>
          <a:xfrm>
            <a:off x="3840480" y="3127248"/>
            <a:ext cx="3840480" cy="237744"/>
          </a:xfrm>
          <a:prstGeom prst="rect">
            <a:avLst/>
          </a:prstGeom>
          <a:noFill/>
          <a:ln/>
        </p:spPr>
        <p:txBody>
          <a:bodyPr wrap="square" lIns="0" tIns="0" rIns="0" bIns="0" rtlCol="0" anchor="ctr"/>
          <a:lstStyle/>
          <a:p>
            <a:pPr algn="ctr" indent="0" marL="0">
              <a:buNone/>
            </a:pPr>
            <a:r>
              <a:rPr lang="en-US" sz="1000" dirty="0">
                <a:solidFill>
                  <a:schemeClr val="accent4"/>
                </a:solidFill>
                <a:latin typeface="Calibri" pitchFamily="34" charset="0"/>
                <a:ea typeface="Calibri" pitchFamily="34" charset="-122"/>
                <a:cs typeface="Calibri" pitchFamily="34" charset="-120"/>
              </a:rPr>
              <a:t>AXI4-Stream, 32-bit words, TLAST at frame end</a:t>
            </a:r>
            <a:endParaRPr lang="en-US" sz="1000" dirty="0"/>
          </a:p>
        </p:txBody>
      </p:sp>
      <p:sp>
        <p:nvSpPr>
          <p:cNvPr id="49" name="t120"/>
          <p:cNvSpPr txBox="1"/>
          <p:nvPr/>
        </p:nvSpPr>
        <p:spPr>
          <a:xfrm>
            <a:off x="2423160" y="2724912"/>
            <a:ext cx="2926080" cy="237744"/>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AXI DMA (simple mode, 26-bit length)</a:t>
            </a:r>
            <a:endParaRPr lang="en-US" sz="1000" dirty="0"/>
          </a:p>
        </p:txBody>
      </p:sp>
      <p:sp>
        <p:nvSpPr>
          <p:cNvPr id="50" name="r121"/>
          <p:cNvSpPr/>
          <p:nvPr/>
        </p:nvSpPr>
        <p:spPr>
          <a:xfrm>
            <a:off x="365760" y="4005072"/>
            <a:ext cx="4114800" cy="713232"/>
          </a:xfrm>
          <a:prstGeom prst="roundRect">
            <a:avLst>
              <a:gd name="adj" fmla="val 7692"/>
            </a:avLst>
          </a:prstGeom>
          <a:solidFill>
            <a:schemeClr val="bg2"/>
          </a:solidFill>
          <a:ln/>
        </p:spPr>
      </p:sp>
      <p:sp>
        <p:nvSpPr>
          <p:cNvPr id="51" name="t122"/>
          <p:cNvSpPr txBox="1"/>
          <p:nvPr/>
        </p:nvSpPr>
        <p:spPr>
          <a:xfrm>
            <a:off x="502920" y="4041648"/>
            <a:ext cx="3886200" cy="64008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Pixel-major stream  </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each pixel carries its channel vector between layers — no full CHW feature map</a:t>
            </a:r>
            <a:endParaRPr lang="en-US" sz="1200" dirty="0"/>
          </a:p>
        </p:txBody>
      </p:sp>
      <p:sp>
        <p:nvSpPr>
          <p:cNvPr id="52" name="r123"/>
          <p:cNvSpPr/>
          <p:nvPr/>
        </p:nvSpPr>
        <p:spPr>
          <a:xfrm>
            <a:off x="4617720" y="4005072"/>
            <a:ext cx="4114800" cy="713232"/>
          </a:xfrm>
          <a:prstGeom prst="roundRect">
            <a:avLst>
              <a:gd name="adj" fmla="val 7692"/>
            </a:avLst>
          </a:prstGeom>
          <a:solidFill>
            <a:srgbClr val="FDF3E3"/>
          </a:solidFill>
          <a:ln/>
        </p:spPr>
      </p:sp>
      <p:sp>
        <p:nvSpPr>
          <p:cNvPr id="53" name="t124"/>
          <p:cNvSpPr txBox="1"/>
          <p:nvPr/>
        </p:nvSpPr>
        <p:spPr>
          <a:xfrm>
            <a:off x="4754880" y="4041648"/>
            <a:ext cx="3886200" cy="640080"/>
          </a:xfrm>
          <a:prstGeom prst="rect">
            <a:avLst/>
          </a:prstGeom>
          <a:noFill/>
          <a:ln/>
        </p:spPr>
        <p:txBody>
          <a:bodyPr wrap="square" lIns="0" tIns="0" rIns="0" bIns="0" rtlCol="0" anchor="ctr"/>
          <a:lstStyle/>
          <a:p>
            <a:pPr indent="0" marL="0">
              <a:buNone/>
            </a:pPr>
            <a:r>
              <a:rPr lang="en-US" sz="1200" b="1" dirty="0">
                <a:solidFill>
                  <a:srgbClr val="A4661A"/>
                </a:solidFill>
                <a:latin typeface="Calibri" pitchFamily="34" charset="0"/>
                <a:ea typeface="Calibri" pitchFamily="34" charset="-122"/>
                <a:cs typeface="Calibri" pitchFamily="34" charset="-120"/>
              </a:rPr>
              <a:t>DDR holds only model, input, output  </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model loaded once; Conv1 + Conv2 maps (~23.81 MiB at 32-bit) never written back</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HLS optimisation: fix timing first, then parallelise</a:t>
            </a:r>
            <a:endParaRPr lang="en-US" sz="2400" dirty="0"/>
          </a:p>
        </p:txBody>
      </p:sp>
      <p:sp>
        <p:nvSpPr>
          <p:cNvPr id="3" name="r125"/>
          <p:cNvSpPr/>
          <p:nvPr/>
        </p:nvSpPr>
        <p:spPr>
          <a:xfrm>
            <a:off x="457200" y="3383280"/>
            <a:ext cx="1097280" cy="1234440"/>
          </a:xfrm>
          <a:prstGeom prst="roundRect">
            <a:avLst>
              <a:gd name="adj" fmla="val 5000"/>
            </a:avLst>
          </a:prstGeom>
          <a:solidFill>
            <a:schemeClr val="accent4"/>
          </a:solidFill>
          <a:ln/>
        </p:spPr>
      </p:sp>
      <p:sp>
        <p:nvSpPr>
          <p:cNvPr id="4" name="t126"/>
          <p:cNvSpPr txBox="1"/>
          <p:nvPr/>
        </p:nvSpPr>
        <p:spPr>
          <a:xfrm>
            <a:off x="548640" y="3438144"/>
            <a:ext cx="365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1</a:t>
            </a:r>
            <a:endParaRPr lang="en-US" sz="1400" dirty="0"/>
          </a:p>
        </p:txBody>
      </p:sp>
      <p:sp>
        <p:nvSpPr>
          <p:cNvPr id="5" name="t127"/>
          <p:cNvSpPr txBox="1"/>
          <p:nvPr/>
        </p:nvSpPr>
        <p:spPr>
          <a:xfrm>
            <a:off x="530352" y="3712464"/>
            <a:ext cx="950976" cy="438912"/>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Natural loops</a:t>
            </a:r>
            <a:endParaRPr lang="en-US" sz="1200" dirty="0"/>
          </a:p>
        </p:txBody>
      </p:sp>
      <p:sp>
        <p:nvSpPr>
          <p:cNvPr id="6" name="t128"/>
          <p:cNvSpPr txBox="1"/>
          <p:nvPr/>
        </p:nvSpPr>
        <p:spPr>
          <a:xfrm>
            <a:off x="530352" y="4151376"/>
            <a:ext cx="950976" cy="411480"/>
          </a:xfrm>
          <a:prstGeom prst="rect">
            <a:avLst/>
          </a:prstGeom>
          <a:noFill/>
          <a:ln/>
        </p:spPr>
        <p:txBody>
          <a:bodyPr wrap="square" lIns="0" tIns="0" rIns="0" bIns="0" rtlCol="0" anchor="t"/>
          <a:lstStyle/>
          <a:p>
            <a:pPr indent="0" marL="0">
              <a:buNone/>
            </a:pPr>
            <a:r>
              <a:rPr lang="en-US" sz="1000" dirty="0">
                <a:solidFill>
                  <a:schemeClr val="bg1"/>
                </a:solidFill>
                <a:latin typeface="Calibri" pitchFamily="34" charset="0"/>
                <a:ea typeface="Calibri" pitchFamily="34" charset="-122"/>
                <a:cs typeface="Calibri" pitchFamily="34" charset="-120"/>
              </a:rPr>
              <a:t>Functional baseline vs Golden</a:t>
            </a:r>
            <a:endParaRPr lang="en-US" sz="1000" dirty="0"/>
          </a:p>
        </p:txBody>
      </p:sp>
      <p:sp>
        <p:nvSpPr>
          <p:cNvPr id="7" name="r129"/>
          <p:cNvSpPr/>
          <p:nvPr/>
        </p:nvSpPr>
        <p:spPr>
          <a:xfrm>
            <a:off x="1645920" y="3127248"/>
            <a:ext cx="1097280" cy="1490472"/>
          </a:xfrm>
          <a:prstGeom prst="roundRect">
            <a:avLst>
              <a:gd name="adj" fmla="val 5000"/>
            </a:avLst>
          </a:prstGeom>
          <a:solidFill>
            <a:srgbClr val="3E6E9C"/>
          </a:solidFill>
          <a:ln/>
        </p:spPr>
      </p:sp>
      <p:sp>
        <p:nvSpPr>
          <p:cNvPr id="8" name="t130"/>
          <p:cNvSpPr txBox="1"/>
          <p:nvPr/>
        </p:nvSpPr>
        <p:spPr>
          <a:xfrm>
            <a:off x="1737360" y="3182112"/>
            <a:ext cx="365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2</a:t>
            </a:r>
            <a:endParaRPr lang="en-US" sz="1400" dirty="0"/>
          </a:p>
        </p:txBody>
      </p:sp>
      <p:sp>
        <p:nvSpPr>
          <p:cNvPr id="9" name="t131"/>
          <p:cNvSpPr txBox="1"/>
          <p:nvPr/>
        </p:nvSpPr>
        <p:spPr>
          <a:xfrm>
            <a:off x="1719072" y="3456432"/>
            <a:ext cx="950976" cy="438912"/>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Line buffer</a:t>
            </a:r>
            <a:endParaRPr lang="en-US" sz="1200" dirty="0"/>
          </a:p>
        </p:txBody>
      </p:sp>
      <p:sp>
        <p:nvSpPr>
          <p:cNvPr id="10" name="t132"/>
          <p:cNvSpPr txBox="1"/>
          <p:nvPr/>
        </p:nvSpPr>
        <p:spPr>
          <a:xfrm>
            <a:off x="1719072" y="3895344"/>
            <a:ext cx="950976" cy="667512"/>
          </a:xfrm>
          <a:prstGeom prst="rect">
            <a:avLst/>
          </a:prstGeom>
          <a:noFill/>
          <a:ln/>
        </p:spPr>
        <p:txBody>
          <a:bodyPr wrap="square" lIns="0" tIns="0" rIns="0" bIns="0" rtlCol="0" anchor="t"/>
          <a:lstStyle/>
          <a:p>
            <a:pPr indent="0" marL="0">
              <a:buNone/>
            </a:pPr>
            <a:r>
              <a:rPr lang="en-US" sz="1000" dirty="0">
                <a:solidFill>
                  <a:schemeClr val="bg1"/>
                </a:solidFill>
                <a:latin typeface="Calibri" pitchFamily="34" charset="0"/>
                <a:ea typeface="Calibri" pitchFamily="34" charset="-122"/>
                <a:cs typeface="Calibri" pitchFamily="34" charset="-120"/>
              </a:rPr>
              <a:t>Rows streamed; circular banks</a:t>
            </a:r>
            <a:endParaRPr lang="en-US" sz="1000" dirty="0"/>
          </a:p>
        </p:txBody>
      </p:sp>
      <p:sp>
        <p:nvSpPr>
          <p:cNvPr id="11" name="r133"/>
          <p:cNvSpPr/>
          <p:nvPr/>
        </p:nvSpPr>
        <p:spPr>
          <a:xfrm>
            <a:off x="2834640" y="2871216"/>
            <a:ext cx="1097280" cy="1746504"/>
          </a:xfrm>
          <a:prstGeom prst="roundRect">
            <a:avLst>
              <a:gd name="adj" fmla="val 5000"/>
            </a:avLst>
          </a:prstGeom>
          <a:solidFill>
            <a:schemeClr val="accent1"/>
          </a:solidFill>
          <a:ln/>
        </p:spPr>
      </p:sp>
      <p:sp>
        <p:nvSpPr>
          <p:cNvPr id="12" name="t134"/>
          <p:cNvSpPr txBox="1"/>
          <p:nvPr/>
        </p:nvSpPr>
        <p:spPr>
          <a:xfrm>
            <a:off x="2926080" y="2926080"/>
            <a:ext cx="365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3</a:t>
            </a:r>
            <a:endParaRPr lang="en-US" sz="1400" dirty="0"/>
          </a:p>
        </p:txBody>
      </p:sp>
      <p:sp>
        <p:nvSpPr>
          <p:cNvPr id="13" name="t135"/>
          <p:cNvSpPr txBox="1"/>
          <p:nvPr/>
        </p:nvSpPr>
        <p:spPr>
          <a:xfrm>
            <a:off x="2907792" y="3200400"/>
            <a:ext cx="950976" cy="438912"/>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Fixed-delay line buffer</a:t>
            </a:r>
            <a:endParaRPr lang="en-US" sz="1200" dirty="0"/>
          </a:p>
        </p:txBody>
      </p:sp>
      <p:sp>
        <p:nvSpPr>
          <p:cNvPr id="14" name="t136"/>
          <p:cNvSpPr txBox="1"/>
          <p:nvPr/>
        </p:nvSpPr>
        <p:spPr>
          <a:xfrm>
            <a:off x="2907792" y="3639312"/>
            <a:ext cx="950976" cy="923544"/>
          </a:xfrm>
          <a:prstGeom prst="rect">
            <a:avLst/>
          </a:prstGeom>
          <a:noFill/>
          <a:ln/>
        </p:spPr>
        <p:txBody>
          <a:bodyPr wrap="square" lIns="0" tIns="0" rIns="0" bIns="0" rtlCol="0" anchor="t"/>
          <a:lstStyle/>
          <a:p>
            <a:pPr indent="0" marL="0">
              <a:buNone/>
            </a:pPr>
            <a:r>
              <a:rPr lang="en-US" sz="1000" dirty="0">
                <a:solidFill>
                  <a:schemeClr val="bg1"/>
                </a:solidFill>
                <a:latin typeface="Calibri" pitchFamily="34" charset="0"/>
                <a:ea typeface="Calibri" pitchFamily="34" charset="-122"/>
                <a:cs typeface="Calibri" pitchFamily="34" charset="-120"/>
              </a:rPr>
              <a:t>No runtime bank selector</a:t>
            </a:r>
            <a:endParaRPr lang="en-US" sz="1000" dirty="0"/>
          </a:p>
        </p:txBody>
      </p:sp>
      <p:sp>
        <p:nvSpPr>
          <p:cNvPr id="15" name="r137"/>
          <p:cNvSpPr/>
          <p:nvPr/>
        </p:nvSpPr>
        <p:spPr>
          <a:xfrm>
            <a:off x="4023360" y="2615184"/>
            <a:ext cx="1097280" cy="2002536"/>
          </a:xfrm>
          <a:prstGeom prst="roundRect">
            <a:avLst>
              <a:gd name="adj" fmla="val 5000"/>
            </a:avLst>
          </a:prstGeom>
          <a:solidFill>
            <a:schemeClr val="accent1"/>
          </a:solidFill>
          <a:ln/>
        </p:spPr>
      </p:sp>
      <p:sp>
        <p:nvSpPr>
          <p:cNvPr id="16" name="t138"/>
          <p:cNvSpPr txBox="1"/>
          <p:nvPr/>
        </p:nvSpPr>
        <p:spPr>
          <a:xfrm>
            <a:off x="4114800" y="2670048"/>
            <a:ext cx="365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4</a:t>
            </a:r>
            <a:endParaRPr lang="en-US" sz="1400" dirty="0"/>
          </a:p>
        </p:txBody>
      </p:sp>
      <p:sp>
        <p:nvSpPr>
          <p:cNvPr id="17" name="t139"/>
          <p:cNvSpPr txBox="1"/>
          <p:nvPr/>
        </p:nvSpPr>
        <p:spPr>
          <a:xfrm>
            <a:off x="4096512" y="2944368"/>
            <a:ext cx="950976" cy="438912"/>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Replicate-only</a:t>
            </a:r>
            <a:endParaRPr lang="en-US" sz="1200" dirty="0"/>
          </a:p>
        </p:txBody>
      </p:sp>
      <p:sp>
        <p:nvSpPr>
          <p:cNvPr id="18" name="t140"/>
          <p:cNvSpPr txBox="1"/>
          <p:nvPr/>
        </p:nvSpPr>
        <p:spPr>
          <a:xfrm>
            <a:off x="4096512" y="3383280"/>
            <a:ext cx="950976" cy="1179576"/>
          </a:xfrm>
          <a:prstGeom prst="rect">
            <a:avLst/>
          </a:prstGeom>
          <a:noFill/>
          <a:ln/>
        </p:spPr>
        <p:txBody>
          <a:bodyPr wrap="square" lIns="0" tIns="0" rIns="0" bIns="0" rtlCol="0" anchor="t"/>
          <a:lstStyle/>
          <a:p>
            <a:pPr indent="0" marL="0">
              <a:buNone/>
            </a:pPr>
            <a:r>
              <a:rPr lang="en-US" sz="1000" dirty="0">
                <a:solidFill>
                  <a:schemeClr val="bg1"/>
                </a:solidFill>
                <a:latin typeface="Calibri" pitchFamily="34" charset="0"/>
                <a:ea typeface="Calibri" pitchFamily="34" charset="-122"/>
                <a:cs typeface="Calibri" pitchFamily="34" charset="-120"/>
              </a:rPr>
              <a:t>Compile-time padding; 5 ns restored</a:t>
            </a:r>
            <a:endParaRPr lang="en-US" sz="1000" dirty="0"/>
          </a:p>
        </p:txBody>
      </p:sp>
      <p:sp>
        <p:nvSpPr>
          <p:cNvPr id="19" name="r141"/>
          <p:cNvSpPr/>
          <p:nvPr/>
        </p:nvSpPr>
        <p:spPr>
          <a:xfrm>
            <a:off x="5212080" y="2359152"/>
            <a:ext cx="1097280" cy="2258568"/>
          </a:xfrm>
          <a:prstGeom prst="roundRect">
            <a:avLst>
              <a:gd name="adj" fmla="val 5000"/>
            </a:avLst>
          </a:prstGeom>
          <a:solidFill>
            <a:schemeClr val="tx2"/>
          </a:solidFill>
          <a:ln/>
        </p:spPr>
      </p:sp>
      <p:sp>
        <p:nvSpPr>
          <p:cNvPr id="20" name="t142"/>
          <p:cNvSpPr txBox="1"/>
          <p:nvPr/>
        </p:nvSpPr>
        <p:spPr>
          <a:xfrm>
            <a:off x="5303520" y="2414016"/>
            <a:ext cx="365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5</a:t>
            </a:r>
            <a:endParaRPr lang="en-US" sz="1400" dirty="0"/>
          </a:p>
        </p:txBody>
      </p:sp>
      <p:sp>
        <p:nvSpPr>
          <p:cNvPr id="21" name="t143"/>
          <p:cNvSpPr txBox="1"/>
          <p:nvPr/>
        </p:nvSpPr>
        <p:spPr>
          <a:xfrm>
            <a:off x="5285232" y="2688336"/>
            <a:ext cx="950976" cy="438912"/>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Conv1 OC2</a:t>
            </a:r>
            <a:endParaRPr lang="en-US" sz="1200" dirty="0"/>
          </a:p>
        </p:txBody>
      </p:sp>
      <p:sp>
        <p:nvSpPr>
          <p:cNvPr id="22" name="t144"/>
          <p:cNvSpPr txBox="1"/>
          <p:nvPr/>
        </p:nvSpPr>
        <p:spPr>
          <a:xfrm>
            <a:off x="5285232" y="3127248"/>
            <a:ext cx="950976" cy="1435608"/>
          </a:xfrm>
          <a:prstGeom prst="rect">
            <a:avLst/>
          </a:prstGeom>
          <a:noFill/>
          <a:ln/>
        </p:spPr>
        <p:txBody>
          <a:bodyPr wrap="square" lIns="0" tIns="0" rIns="0" bIns="0" rtlCol="0" anchor="t"/>
          <a:lstStyle/>
          <a:p>
            <a:pPr indent="0" marL="0">
              <a:buNone/>
            </a:pPr>
            <a:r>
              <a:rPr lang="en-US" sz="1000" dirty="0">
                <a:solidFill>
                  <a:schemeClr val="bg1"/>
                </a:solidFill>
                <a:latin typeface="Calibri" pitchFamily="34" charset="0"/>
                <a:ea typeface="Calibri" pitchFamily="34" charset="-122"/>
                <a:cs typeface="Calibri" pitchFamily="34" charset="-120"/>
              </a:rPr>
              <a:t>2 output channels / pass</a:t>
            </a:r>
            <a:endParaRPr lang="en-US" sz="1000" dirty="0"/>
          </a:p>
        </p:txBody>
      </p:sp>
      <p:sp>
        <p:nvSpPr>
          <p:cNvPr id="23" name="r145"/>
          <p:cNvSpPr/>
          <p:nvPr/>
        </p:nvSpPr>
        <p:spPr>
          <a:xfrm>
            <a:off x="6400800" y="2103120"/>
            <a:ext cx="1097280" cy="2514600"/>
          </a:xfrm>
          <a:prstGeom prst="roundRect">
            <a:avLst>
              <a:gd name="adj" fmla="val 5000"/>
            </a:avLst>
          </a:prstGeom>
          <a:solidFill>
            <a:schemeClr val="tx2"/>
          </a:solidFill>
          <a:ln/>
        </p:spPr>
      </p:sp>
      <p:sp>
        <p:nvSpPr>
          <p:cNvPr id="24" name="t146"/>
          <p:cNvSpPr txBox="1"/>
          <p:nvPr/>
        </p:nvSpPr>
        <p:spPr>
          <a:xfrm>
            <a:off x="6492240" y="2157984"/>
            <a:ext cx="365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6</a:t>
            </a:r>
            <a:endParaRPr lang="en-US" sz="1400" dirty="0"/>
          </a:p>
        </p:txBody>
      </p:sp>
      <p:sp>
        <p:nvSpPr>
          <p:cNvPr id="25" name="t147"/>
          <p:cNvSpPr txBox="1"/>
          <p:nvPr/>
        </p:nvSpPr>
        <p:spPr>
          <a:xfrm>
            <a:off x="6473952" y="2432304"/>
            <a:ext cx="950976" cy="438912"/>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Conv1 OC4</a:t>
            </a:r>
            <a:endParaRPr lang="en-US" sz="1200" dirty="0"/>
          </a:p>
        </p:txBody>
      </p:sp>
      <p:sp>
        <p:nvSpPr>
          <p:cNvPr id="26" name="t148"/>
          <p:cNvSpPr txBox="1"/>
          <p:nvPr/>
        </p:nvSpPr>
        <p:spPr>
          <a:xfrm>
            <a:off x="6473952" y="2871216"/>
            <a:ext cx="950976" cy="1691640"/>
          </a:xfrm>
          <a:prstGeom prst="rect">
            <a:avLst/>
          </a:prstGeom>
          <a:noFill/>
          <a:ln/>
        </p:spPr>
        <p:txBody>
          <a:bodyPr wrap="square" lIns="0" tIns="0" rIns="0" bIns="0" rtlCol="0" anchor="t"/>
          <a:lstStyle/>
          <a:p>
            <a:pPr indent="0" marL="0">
              <a:buNone/>
            </a:pPr>
            <a:r>
              <a:rPr lang="en-US" sz="1000" dirty="0">
                <a:solidFill>
                  <a:schemeClr val="bg1"/>
                </a:solidFill>
                <a:latin typeface="Calibri" pitchFamily="34" charset="0"/>
                <a:ea typeface="Calibri" pitchFamily="34" charset="-122"/>
                <a:cs typeface="Calibri" pitchFamily="34" charset="-120"/>
              </a:rPr>
              <a:t>4 output channels / pass</a:t>
            </a:r>
            <a:endParaRPr lang="en-US" sz="1000" dirty="0"/>
          </a:p>
        </p:txBody>
      </p:sp>
      <p:sp>
        <p:nvSpPr>
          <p:cNvPr id="27" name="r149"/>
          <p:cNvSpPr/>
          <p:nvPr/>
        </p:nvSpPr>
        <p:spPr>
          <a:xfrm>
            <a:off x="7589520" y="1847088"/>
            <a:ext cx="1097280" cy="2770632"/>
          </a:xfrm>
          <a:prstGeom prst="roundRect">
            <a:avLst>
              <a:gd name="adj" fmla="val 5000"/>
            </a:avLst>
          </a:prstGeom>
          <a:solidFill>
            <a:srgbClr val="3E6E9C"/>
          </a:solidFill>
          <a:ln/>
        </p:spPr>
      </p:sp>
      <p:sp>
        <p:nvSpPr>
          <p:cNvPr id="28" name="t150"/>
          <p:cNvSpPr txBox="1"/>
          <p:nvPr/>
        </p:nvSpPr>
        <p:spPr>
          <a:xfrm>
            <a:off x="7680960" y="1901952"/>
            <a:ext cx="365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7</a:t>
            </a:r>
            <a:endParaRPr lang="en-US" sz="1400" dirty="0"/>
          </a:p>
        </p:txBody>
      </p:sp>
      <p:sp>
        <p:nvSpPr>
          <p:cNvPr id="29" name="t151"/>
          <p:cNvSpPr txBox="1"/>
          <p:nvPr/>
        </p:nvSpPr>
        <p:spPr>
          <a:xfrm>
            <a:off x="7662672" y="2176272"/>
            <a:ext cx="950976" cy="438912"/>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Canonical DATAFLOW</a:t>
            </a:r>
            <a:endParaRPr lang="en-US" sz="1200" dirty="0"/>
          </a:p>
        </p:txBody>
      </p:sp>
      <p:sp>
        <p:nvSpPr>
          <p:cNvPr id="30" name="t152"/>
          <p:cNvSpPr txBox="1"/>
          <p:nvPr/>
        </p:nvSpPr>
        <p:spPr>
          <a:xfrm>
            <a:off x="7662672" y="2615184"/>
            <a:ext cx="950976" cy="1947672"/>
          </a:xfrm>
          <a:prstGeom prst="rect">
            <a:avLst/>
          </a:prstGeom>
          <a:noFill/>
          <a:ln/>
        </p:spPr>
        <p:txBody>
          <a:bodyPr wrap="square" lIns="0" tIns="0" rIns="0" bIns="0" rtlCol="0" anchor="t"/>
          <a:lstStyle/>
          <a:p>
            <a:pPr indent="0" marL="0">
              <a:buNone/>
            </a:pPr>
            <a:r>
              <a:rPr lang="en-US" sz="1000" dirty="0">
                <a:solidFill>
                  <a:schemeClr val="bg1"/>
                </a:solidFill>
                <a:latin typeface="Calibri" pitchFamily="34" charset="0"/>
                <a:ea typeface="Calibri" pitchFamily="34" charset="-122"/>
                <a:cs typeface="Calibri" pitchFamily="34" charset="-120"/>
              </a:rPr>
              <a:t>AXIS + FIFOs between layers</a:t>
            </a:r>
            <a:endParaRPr lang="en-US" sz="1000" dirty="0"/>
          </a:p>
        </p:txBody>
      </p:sp>
      <p:sp>
        <p:nvSpPr>
          <p:cNvPr id="31" name="r153"/>
          <p:cNvSpPr/>
          <p:nvPr/>
        </p:nvSpPr>
        <p:spPr>
          <a:xfrm>
            <a:off x="457200" y="932688"/>
            <a:ext cx="3474720" cy="1627632"/>
          </a:xfrm>
          <a:prstGeom prst="roundRect">
            <a:avLst>
              <a:gd name="adj" fmla="val 3371"/>
            </a:avLst>
          </a:prstGeom>
          <a:solidFill>
            <a:schemeClr val="bg2"/>
          </a:solidFill>
          <a:ln/>
        </p:spPr>
      </p:sp>
      <p:sp>
        <p:nvSpPr>
          <p:cNvPr id="32" name="t154"/>
          <p:cNvSpPr txBox="1"/>
          <p:nvPr/>
        </p:nvSpPr>
        <p:spPr>
          <a:xfrm>
            <a:off x="621792" y="987552"/>
            <a:ext cx="3200400" cy="292608"/>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What drove the changes</a:t>
            </a:r>
            <a:endParaRPr lang="en-US" sz="1400" dirty="0"/>
          </a:p>
        </p:txBody>
      </p:sp>
      <p:sp>
        <p:nvSpPr>
          <p:cNvPr id="33" name="t155"/>
          <p:cNvSpPr txBox="1"/>
          <p:nvPr/>
        </p:nvSpPr>
        <p:spPr>
          <a:xfrm>
            <a:off x="566928" y="1280160"/>
            <a:ext cx="3291840" cy="1243584"/>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Circular bank selector → wide muxes → timing</a:t>
            </a:r>
            <a:endParaRPr lang="en-US" sz="1200" dirty="0"/>
          </a:p>
          <a:p>
            <a:pPr marL="177800" indent="-1778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Fixed-delay banks: one permanent role each</a:t>
            </a:r>
            <a:endParaRPr lang="en-US" sz="1200" dirty="0"/>
          </a:p>
          <a:p>
            <a:pPr marL="177800" indent="-1778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Replicate-only: 5 ns HLS timing restored</a:t>
            </a:r>
            <a:endParaRPr lang="en-US" sz="1200" dirty="0"/>
          </a:p>
          <a:p>
            <a:pPr marL="177800" indent="-177800">
              <a:spcAft>
                <a:spcPts val="400"/>
              </a:spcAft>
              <a:buSzPct val="100000"/>
              <a:buChar char="•"/>
            </a:pPr>
            <a:r>
              <a:rPr lang="en-US" sz="1200" dirty="0">
                <a:solidFill>
                  <a:srgbClr val="A4661A"/>
                </a:solidFill>
                <a:latin typeface="Calibri" pitchFamily="34" charset="0"/>
                <a:ea typeface="Calibri" pitchFamily="34" charset="-122"/>
                <a:cs typeface="Calibri" pitchFamily="34" charset="-120"/>
              </a:rPr>
              <a:t>Kept negative result: write-back address change, no gain</a:t>
            </a:r>
            <a:endParaRPr lang="en-US" sz="1200" dirty="0"/>
          </a:p>
        </p:txBody>
      </p:sp>
      <p:sp>
        <p:nvSpPr>
          <p:cNvPr id="34" name="r156"/>
          <p:cNvSpPr/>
          <p:nvPr/>
        </p:nvSpPr>
        <p:spPr>
          <a:xfrm>
            <a:off x="4800600" y="1024128"/>
            <a:ext cx="182880" cy="182880"/>
          </a:xfrm>
          <a:prstGeom prst="rect">
            <a:avLst/>
          </a:prstGeom>
          <a:solidFill>
            <a:schemeClr val="accent1"/>
          </a:solidFill>
          <a:ln/>
        </p:spPr>
      </p:sp>
      <p:sp>
        <p:nvSpPr>
          <p:cNvPr id="35" name="t157"/>
          <p:cNvSpPr txBox="1"/>
          <p:nvPr/>
        </p:nvSpPr>
        <p:spPr>
          <a:xfrm>
            <a:off x="5029200" y="978408"/>
            <a:ext cx="109728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Timing repair</a:t>
            </a:r>
            <a:endParaRPr lang="en-US" sz="1100" dirty="0"/>
          </a:p>
        </p:txBody>
      </p:sp>
      <p:sp>
        <p:nvSpPr>
          <p:cNvPr id="36" name="r158"/>
          <p:cNvSpPr/>
          <p:nvPr/>
        </p:nvSpPr>
        <p:spPr>
          <a:xfrm>
            <a:off x="6126480" y="1024128"/>
            <a:ext cx="182880" cy="182880"/>
          </a:xfrm>
          <a:prstGeom prst="rect">
            <a:avLst/>
          </a:prstGeom>
          <a:solidFill>
            <a:schemeClr val="tx2"/>
          </a:solidFill>
          <a:ln/>
        </p:spPr>
      </p:sp>
      <p:sp>
        <p:nvSpPr>
          <p:cNvPr id="37" name="t159"/>
          <p:cNvSpPr txBox="1"/>
          <p:nvPr/>
        </p:nvSpPr>
        <p:spPr>
          <a:xfrm>
            <a:off x="6355080" y="978408"/>
            <a:ext cx="109728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Parallelism</a:t>
            </a:r>
            <a:endParaRPr lang="en-US" sz="1100" dirty="0"/>
          </a:p>
        </p:txBody>
      </p:sp>
      <p:sp>
        <p:nvSpPr>
          <p:cNvPr id="38" name="r160"/>
          <p:cNvSpPr/>
          <p:nvPr/>
        </p:nvSpPr>
        <p:spPr>
          <a:xfrm>
            <a:off x="7452360" y="1024128"/>
            <a:ext cx="182880" cy="182880"/>
          </a:xfrm>
          <a:prstGeom prst="rect">
            <a:avLst/>
          </a:prstGeom>
          <a:solidFill>
            <a:srgbClr val="3E6E9C"/>
          </a:solidFill>
          <a:ln/>
        </p:spPr>
      </p:sp>
      <p:sp>
        <p:nvSpPr>
          <p:cNvPr id="39" name="t161"/>
          <p:cNvSpPr txBox="1"/>
          <p:nvPr/>
        </p:nvSpPr>
        <p:spPr>
          <a:xfrm>
            <a:off x="7680960" y="978408"/>
            <a:ext cx="109728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Structure</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Conv1 OC4 cuts estimated HLS latency by 54.8%</a:t>
            </a:r>
            <a:endParaRPr lang="en-US" sz="2400" dirty="0"/>
          </a:p>
        </p:txBody>
      </p:sp>
      <p:graphicFrame>
        <p:nvGraphicFramePr>
          <p:cNvPr id="3" name="Chart 0" descr=""/>
          <p:cNvGraphicFramePr/>
          <p:nvPr/>
        </p:nvGraphicFramePr>
        <p:xfrm>
          <a:off x="365760" y="91440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r162"/>
          <p:cNvSpPr/>
          <p:nvPr/>
        </p:nvSpPr>
        <p:spPr>
          <a:xfrm>
            <a:off x="5166360" y="960120"/>
            <a:ext cx="1783080" cy="1143000"/>
          </a:xfrm>
          <a:prstGeom prst="roundRect">
            <a:avLst>
              <a:gd name="adj" fmla="val 4800"/>
            </a:avLst>
          </a:prstGeom>
          <a:solidFill>
            <a:schemeClr val="bg2"/>
          </a:solidFill>
          <a:ln/>
        </p:spPr>
      </p:sp>
      <p:sp>
        <p:nvSpPr>
          <p:cNvPr id="5" name="t163"/>
          <p:cNvSpPr txBox="1"/>
          <p:nvPr/>
        </p:nvSpPr>
        <p:spPr>
          <a:xfrm>
            <a:off x="5166360" y="1024128"/>
            <a:ext cx="1783080" cy="566928"/>
          </a:xfrm>
          <a:prstGeom prst="rect">
            <a:avLst/>
          </a:prstGeom>
          <a:noFill/>
          <a:ln/>
        </p:spPr>
        <p:txBody>
          <a:bodyPr wrap="square" lIns="0" tIns="0" rIns="0" bIns="0" rtlCol="0" anchor="ctr"/>
          <a:lstStyle/>
          <a:p>
            <a:pPr algn="ctr" indent="0" marL="0">
              <a:buNone/>
            </a:pPr>
            <a:r>
              <a:rPr lang="en-US" sz="3200" b="1" dirty="0">
                <a:solidFill>
                  <a:schemeClr val="accent1"/>
                </a:solidFill>
                <a:latin typeface="Arial" pitchFamily="34" charset="0"/>
                <a:ea typeface="Arial" pitchFamily="34" charset="-122"/>
                <a:cs typeface="Arial" pitchFamily="34" charset="-120"/>
              </a:rPr>
              <a:t>−54.8%</a:t>
            </a:r>
            <a:endParaRPr lang="en-US" sz="3200" dirty="0"/>
          </a:p>
        </p:txBody>
      </p:sp>
      <p:sp>
        <p:nvSpPr>
          <p:cNvPr id="6" name="t164"/>
          <p:cNvSpPr txBox="1"/>
          <p:nvPr/>
        </p:nvSpPr>
        <p:spPr>
          <a:xfrm>
            <a:off x="5166360" y="1609344"/>
            <a:ext cx="1783080" cy="411480"/>
          </a:xfrm>
          <a:prstGeom prst="rect">
            <a:avLst/>
          </a:prstGeom>
          <a:noFill/>
          <a:ln/>
        </p:spPr>
        <p:txBody>
          <a:bodyPr wrap="square" lIns="0" tIns="0" rIns="0" bIns="0" rtlCol="0" anchor="ctr"/>
          <a:lstStyle/>
          <a:p>
            <a:pPr algn="ctr" indent="0" marL="0">
              <a:buNone/>
            </a:pPr>
            <a:r>
              <a:rPr lang="en-US" sz="1200" dirty="0">
                <a:solidFill>
                  <a:schemeClr val="tx2"/>
                </a:solidFill>
                <a:latin typeface="Calibri" pitchFamily="34" charset="0"/>
                <a:ea typeface="Calibri" pitchFamily="34" charset="-122"/>
                <a:cs typeface="Calibri" pitchFamily="34" charset="-120"/>
              </a:rPr>
              <a:t>Top latency</a:t>
            </a:r>
            <a:endParaRPr lang="en-US" sz="1200" dirty="0"/>
          </a:p>
        </p:txBody>
      </p:sp>
      <p:sp>
        <p:nvSpPr>
          <p:cNvPr id="7" name="r165"/>
          <p:cNvSpPr/>
          <p:nvPr/>
        </p:nvSpPr>
        <p:spPr>
          <a:xfrm>
            <a:off x="7040880" y="960120"/>
            <a:ext cx="1783080" cy="1143000"/>
          </a:xfrm>
          <a:prstGeom prst="roundRect">
            <a:avLst>
              <a:gd name="adj" fmla="val 4800"/>
            </a:avLst>
          </a:prstGeom>
          <a:solidFill>
            <a:schemeClr val="bg2"/>
          </a:solidFill>
          <a:ln/>
        </p:spPr>
      </p:sp>
      <p:sp>
        <p:nvSpPr>
          <p:cNvPr id="8" name="t166"/>
          <p:cNvSpPr txBox="1"/>
          <p:nvPr/>
        </p:nvSpPr>
        <p:spPr>
          <a:xfrm>
            <a:off x="7040880" y="1024128"/>
            <a:ext cx="1783080" cy="566928"/>
          </a:xfrm>
          <a:prstGeom prst="rect">
            <a:avLst/>
          </a:prstGeom>
          <a:noFill/>
          <a:ln/>
        </p:spPr>
        <p:txBody>
          <a:bodyPr wrap="square" lIns="0" tIns="0" rIns="0" bIns="0" rtlCol="0" anchor="ctr"/>
          <a:lstStyle/>
          <a:p>
            <a:pPr algn="ctr" indent="0" marL="0">
              <a:buNone/>
            </a:pPr>
            <a:r>
              <a:rPr lang="en-US" sz="3200" b="1" dirty="0">
                <a:solidFill>
                  <a:schemeClr val="accent1"/>
                </a:solidFill>
                <a:latin typeface="Arial" pitchFamily="34" charset="0"/>
                <a:ea typeface="Arial" pitchFamily="34" charset="-122"/>
                <a:cs typeface="Arial" pitchFamily="34" charset="-120"/>
              </a:rPr>
              <a:t>−69.5%</a:t>
            </a:r>
            <a:endParaRPr lang="en-US" sz="3200" dirty="0"/>
          </a:p>
        </p:txBody>
      </p:sp>
      <p:sp>
        <p:nvSpPr>
          <p:cNvPr id="9" name="t167"/>
          <p:cNvSpPr txBox="1"/>
          <p:nvPr/>
        </p:nvSpPr>
        <p:spPr>
          <a:xfrm>
            <a:off x="7040880" y="1609344"/>
            <a:ext cx="1783080" cy="411480"/>
          </a:xfrm>
          <a:prstGeom prst="rect">
            <a:avLst/>
          </a:prstGeom>
          <a:noFill/>
          <a:ln/>
        </p:spPr>
        <p:txBody>
          <a:bodyPr wrap="square" lIns="0" tIns="0" rIns="0" bIns="0" rtlCol="0" anchor="ctr"/>
          <a:lstStyle/>
          <a:p>
            <a:pPr algn="ctr" indent="0" marL="0">
              <a:buNone/>
            </a:pPr>
            <a:r>
              <a:rPr lang="en-US" sz="1200" dirty="0">
                <a:solidFill>
                  <a:schemeClr val="tx2"/>
                </a:solidFill>
                <a:latin typeface="Calibri" pitchFamily="34" charset="0"/>
                <a:ea typeface="Calibri" pitchFamily="34" charset="-122"/>
                <a:cs typeface="Calibri" pitchFamily="34" charset="-120"/>
              </a:rPr>
              <a:t>Conv1 latency</a:t>
            </a:r>
            <a:endParaRPr lang="en-US" sz="1200" dirty="0"/>
          </a:p>
        </p:txBody>
      </p:sp>
      <p:graphicFrame>
        <p:nvGraphicFramePr>
          <p:cNvPr id="7" name="res-table"/>
          <p:cNvGraphicFramePr>
            <a:graphicFrameLocks noGrp="1"/>
          </p:cNvGraphicFramePr>
          <p:nvPr>
            <p:extLst>
              <p:ext uri="{D42A27DB-BD31-4B8C-83A1-F6EECF244321}">
                <p14:modId xmlns:p14="http://schemas.microsoft.com/office/powerpoint/2010/main" val="1579011935"/>
              </p:ext>
            </p:extLst>
          </p:nvPr>
        </p:nvGraphicFramePr>
        <p:xfrm>
          <a:off x="5166360" y="2286000"/>
          <a:ext cx="3657600" cy="914400"/>
        </p:xfrm>
        <a:graphic>
          <a:graphicData uri="http://schemas.openxmlformats.org/drawingml/2006/table">
            <a:tbl>
              <a:tblPr/>
              <a:tblGrid>
                <a:gridCol w="1463040"/>
                <a:gridCol w="1097280"/>
                <a:gridCol w="109728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Resource</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solidFill>
                      <a:srgbClr val="0B1F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MAC-A</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solidFill>
                      <a:srgbClr val="0B1F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OC4</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solidFill>
                      <a:srgbClr val="0B1F3A"/>
                    </a:solidFill>
                  </a:tcPr>
                </a:tc>
              </a:tr>
              <a:tr h="310896">
                <a:tc>
                  <a:txBody>
                    <a:bodyPr/>
                    <a:lstStyle/>
                    <a:p>
                      <a:pPr indent="0" marL="0">
                        <a:buNone/>
                      </a:pPr>
                      <a:r>
                        <a:rPr lang="en-US" sz="1300" dirty="0">
                          <a:solidFill>
                            <a:srgbClr val="16202E"/>
                          </a:solidFill>
                          <a:latin typeface="Calibri" pitchFamily="34" charset="0"/>
                          <a:ea typeface="Calibri" pitchFamily="34" charset="-122"/>
                          <a:cs typeface="Calibri" pitchFamily="34" charset="-120"/>
                        </a:rPr>
                        <a:t>DSP</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b="1" dirty="0">
                          <a:solidFill>
                            <a:srgbClr val="16202E"/>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r>
              <a:tr h="310896">
                <a:tc>
                  <a:txBody>
                    <a:bodyPr/>
                    <a:lstStyle/>
                    <a:p>
                      <a:pPr indent="0" marL="0">
                        <a:buNone/>
                      </a:pPr>
                      <a:r>
                        <a:rPr lang="en-US" sz="1300" dirty="0">
                          <a:solidFill>
                            <a:srgbClr val="16202E"/>
                          </a:solidFill>
                          <a:latin typeface="Calibri" pitchFamily="34" charset="0"/>
                          <a:ea typeface="Calibri" pitchFamily="34" charset="-122"/>
                          <a:cs typeface="Calibri" pitchFamily="34" charset="-120"/>
                        </a:rPr>
                        <a:t>LUT</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13,982</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b="1" dirty="0">
                          <a:solidFill>
                            <a:srgbClr val="16202E"/>
                          </a:solidFill>
                          <a:latin typeface="Calibri" pitchFamily="34" charset="0"/>
                          <a:ea typeface="Calibri" pitchFamily="34" charset="-122"/>
                          <a:cs typeface="Calibri" pitchFamily="34" charset="-120"/>
                        </a:rPr>
                        <a:t>15,960</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r>
            </a:tbl>
          </a:graphicData>
        </a:graphic>
      </p:graphicFrame>
      <p:sp>
        <p:nvSpPr>
          <p:cNvPr id="11" name="t168"/>
          <p:cNvSpPr txBox="1"/>
          <p:nvPr/>
        </p:nvSpPr>
        <p:spPr>
          <a:xfrm>
            <a:off x="5166360" y="3337560"/>
            <a:ext cx="3657600" cy="54864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All 64 kernels still computed — 4 output channels per pass (16 groups × 81 taps, II = 1).</a:t>
            </a:r>
            <a:endParaRPr lang="en-US" sz="1200" dirty="0"/>
          </a:p>
        </p:txBody>
      </p:sp>
      <p:sp>
        <p:nvSpPr>
          <p:cNvPr id="12" name="r169"/>
          <p:cNvSpPr/>
          <p:nvPr/>
        </p:nvSpPr>
        <p:spPr>
          <a:xfrm>
            <a:off x="457200" y="4251960"/>
            <a:ext cx="8366760" cy="457200"/>
          </a:xfrm>
          <a:prstGeom prst="roundRect">
            <a:avLst>
              <a:gd name="adj" fmla="val 12000"/>
            </a:avLst>
          </a:prstGeom>
          <a:solidFill>
            <a:srgbClr val="FDF3E3"/>
          </a:solidFill>
          <a:ln/>
        </p:spPr>
      </p:sp>
      <p:sp>
        <p:nvSpPr>
          <p:cNvPr id="13" name="t170"/>
          <p:cNvSpPr txBox="1"/>
          <p:nvPr/>
        </p:nvSpPr>
        <p:spPr>
          <a:xfrm>
            <a:off x="640080" y="4251960"/>
            <a:ext cx="8046720" cy="457200"/>
          </a:xfrm>
          <a:prstGeom prst="rect">
            <a:avLst/>
          </a:prstGeom>
          <a:noFill/>
          <a:ln/>
        </p:spPr>
        <p:txBody>
          <a:bodyPr wrap="square" lIns="0" tIns="0" rIns="0" bIns="0" rtlCol="0" anchor="ctr"/>
          <a:lstStyle/>
          <a:p>
            <a:pPr indent="0" marL="0">
              <a:buNone/>
            </a:pPr>
            <a:r>
              <a:rPr lang="en-US" sz="1300" b="1" dirty="0">
                <a:solidFill>
                  <a:srgbClr val="A4661A"/>
                </a:solidFill>
                <a:latin typeface="Calibri" pitchFamily="34" charset="0"/>
                <a:ea typeface="Calibri" pitchFamily="34" charset="-122"/>
                <a:cs typeface="Calibri" pitchFamily="34" charset="-120"/>
              </a:rPr>
              <a:t>Scope:  </a:t>
            </a:r>
            <a:pPr indent="0" marL="0">
              <a:buNone/>
            </a:pPr>
            <a:r>
              <a:rPr lang="en-US" sz="1300" dirty="0">
                <a:solidFill>
                  <a:schemeClr val="tx1"/>
                </a:solidFill>
                <a:latin typeface="Calibri" pitchFamily="34" charset="0"/>
                <a:ea typeface="Calibri" pitchFamily="34" charset="-122"/>
                <a:cs typeface="Calibri" pitchFamily="34" charset="-120"/>
              </a:rPr>
              <a:t>Vitis HLS C-synthesis estimates at 5 ns — not board measurements (board timing: Slide 9).</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Q20.12 recovers float quality; Q24.8 does not</a:t>
            </a:r>
            <a:endParaRPr lang="en-US" sz="2400" dirty="0"/>
          </a:p>
        </p:txBody>
      </p:sp>
      <p:graphicFrame>
        <p:nvGraphicFramePr>
          <p:cNvPr id="3" name="Chart 0" descr=""/>
          <p:cNvGraphicFramePr/>
          <p:nvPr/>
        </p:nvGraphicFramePr>
        <p:xfrm>
          <a:off x="365760" y="91440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4" name="r171"/>
          <p:cNvSpPr/>
          <p:nvPr/>
        </p:nvSpPr>
        <p:spPr>
          <a:xfrm>
            <a:off x="5349240" y="914400"/>
            <a:ext cx="3474720" cy="1536192"/>
          </a:xfrm>
          <a:prstGeom prst="roundRect">
            <a:avLst>
              <a:gd name="adj" fmla="val 3571"/>
            </a:avLst>
          </a:prstGeom>
          <a:solidFill>
            <a:srgbClr val="FDF3E3"/>
          </a:solidFill>
          <a:ln/>
        </p:spPr>
      </p:sp>
      <p:sp>
        <p:nvSpPr>
          <p:cNvPr id="5" name="t172"/>
          <p:cNvSpPr txBox="1"/>
          <p:nvPr/>
        </p:nvSpPr>
        <p:spPr>
          <a:xfrm>
            <a:off x="5504688" y="987552"/>
            <a:ext cx="2011680" cy="329184"/>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Q24.8</a:t>
            </a:r>
            <a:endParaRPr lang="en-US" sz="1700" dirty="0"/>
          </a:p>
        </p:txBody>
      </p:sp>
      <p:sp>
        <p:nvSpPr>
          <p:cNvPr id="6" name="r173"/>
          <p:cNvSpPr/>
          <p:nvPr/>
        </p:nvSpPr>
        <p:spPr>
          <a:xfrm>
            <a:off x="7543800" y="1024128"/>
            <a:ext cx="1143000" cy="274320"/>
          </a:xfrm>
          <a:prstGeom prst="roundRect">
            <a:avLst>
              <a:gd name="adj" fmla="val 20000"/>
            </a:avLst>
          </a:prstGeom>
          <a:solidFill>
            <a:schemeClr val="accent3"/>
          </a:solidFill>
          <a:ln/>
        </p:spPr>
      </p:sp>
      <p:sp>
        <p:nvSpPr>
          <p:cNvPr id="7" name="t174"/>
          <p:cNvSpPr txBox="1"/>
          <p:nvPr/>
        </p:nvSpPr>
        <p:spPr>
          <a:xfrm>
            <a:off x="7598664" y="1024128"/>
            <a:ext cx="1033272"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FAILS GATE</a:t>
            </a:r>
            <a:endParaRPr lang="en-US" sz="1000" dirty="0"/>
          </a:p>
        </p:txBody>
      </p:sp>
      <p:sp>
        <p:nvSpPr>
          <p:cNvPr id="8" name="t175"/>
          <p:cNvSpPr txBox="1"/>
          <p:nvPr/>
        </p:nvSpPr>
        <p:spPr>
          <a:xfrm>
            <a:off x="5468112" y="1371600"/>
            <a:ext cx="3291840" cy="1024128"/>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Butterfly 27.48 → 25.16 dB</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Set14 mean 29.16 → 25.71 dB</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1,205 / 5,184 non-zero Conv1 weights → 0</a:t>
            </a:r>
            <a:endParaRPr lang="en-US" sz="1200" dirty="0"/>
          </a:p>
        </p:txBody>
      </p:sp>
      <p:sp>
        <p:nvSpPr>
          <p:cNvPr id="9" name="r176"/>
          <p:cNvSpPr/>
          <p:nvPr/>
        </p:nvSpPr>
        <p:spPr>
          <a:xfrm>
            <a:off x="5349240" y="2578608"/>
            <a:ext cx="3474720" cy="1536192"/>
          </a:xfrm>
          <a:prstGeom prst="roundRect">
            <a:avLst>
              <a:gd name="adj" fmla="val 3571"/>
            </a:avLst>
          </a:prstGeom>
          <a:solidFill>
            <a:schemeClr val="bg2"/>
          </a:solidFill>
          <a:ln/>
        </p:spPr>
      </p:sp>
      <p:sp>
        <p:nvSpPr>
          <p:cNvPr id="10" name="t177"/>
          <p:cNvSpPr txBox="1"/>
          <p:nvPr/>
        </p:nvSpPr>
        <p:spPr>
          <a:xfrm>
            <a:off x="5504688" y="2651760"/>
            <a:ext cx="2011680" cy="329184"/>
          </a:xfrm>
          <a:prstGeom prst="rect">
            <a:avLst/>
          </a:prstGeom>
          <a:noFill/>
          <a:ln/>
        </p:spPr>
        <p:txBody>
          <a:bodyPr wrap="square" lIns="0" tIns="0" rIns="0" bIns="0" rtlCol="0" anchor="ctr"/>
          <a:lstStyle/>
          <a:p>
            <a:pPr indent="0" marL="0">
              <a:buNone/>
            </a:pPr>
            <a:r>
              <a:rPr lang="en-US" sz="1700" b="1" dirty="0">
                <a:solidFill>
                  <a:schemeClr val="tx2"/>
                </a:solidFill>
                <a:latin typeface="Arial" pitchFamily="34" charset="0"/>
                <a:ea typeface="Arial" pitchFamily="34" charset="-122"/>
                <a:cs typeface="Arial" pitchFamily="34" charset="-120"/>
              </a:rPr>
              <a:t>Q20.12</a:t>
            </a:r>
            <a:endParaRPr lang="en-US" sz="1700" dirty="0"/>
          </a:p>
        </p:txBody>
      </p:sp>
      <p:sp>
        <p:nvSpPr>
          <p:cNvPr id="11" name="r178"/>
          <p:cNvSpPr/>
          <p:nvPr/>
        </p:nvSpPr>
        <p:spPr>
          <a:xfrm>
            <a:off x="7543800" y="2688336"/>
            <a:ext cx="1143000" cy="274320"/>
          </a:xfrm>
          <a:prstGeom prst="roundRect">
            <a:avLst>
              <a:gd name="adj" fmla="val 20000"/>
            </a:avLst>
          </a:prstGeom>
          <a:solidFill>
            <a:schemeClr val="accent1"/>
          </a:solidFill>
          <a:ln/>
        </p:spPr>
      </p:sp>
      <p:sp>
        <p:nvSpPr>
          <p:cNvPr id="12" name="t179"/>
          <p:cNvSpPr txBox="1"/>
          <p:nvPr/>
        </p:nvSpPr>
        <p:spPr>
          <a:xfrm>
            <a:off x="7598664" y="2688336"/>
            <a:ext cx="1033272"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SELECTED</a:t>
            </a:r>
            <a:endParaRPr lang="en-US" sz="1000" dirty="0"/>
          </a:p>
        </p:txBody>
      </p:sp>
      <p:sp>
        <p:nvSpPr>
          <p:cNvPr id="13" name="t180"/>
          <p:cNvSpPr txBox="1"/>
          <p:nvPr/>
        </p:nvSpPr>
        <p:spPr>
          <a:xfrm>
            <a:off x="5468112" y="3035808"/>
            <a:ext cx="3291840" cy="1024128"/>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Max PSNR Δ vs float: 0.004187 dB</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Min fixed-vs-float PSNR: 60.621 dB</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Lowest tested precision passing gate</a:t>
            </a:r>
            <a:endParaRPr lang="en-US" sz="1200" dirty="0"/>
          </a:p>
        </p:txBody>
      </p:sp>
      <p:sp>
        <p:nvSpPr>
          <p:cNvPr id="14" name="t181"/>
          <p:cNvSpPr txBox="1"/>
          <p:nvPr/>
        </p:nvSpPr>
        <p:spPr>
          <a:xfrm>
            <a:off x="457200" y="4224528"/>
            <a:ext cx="8366760" cy="5029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Q24.8 is arithmetically correct but too coarse. Raw words and bitstreams of the two profiles are not interchangeable. Data: Butterfly + 13 supplied Set14 images.</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Verified at every level, up to the board</a:t>
            </a:r>
            <a:endParaRPr lang="en-US" sz="2400" dirty="0"/>
          </a:p>
        </p:txBody>
      </p:sp>
      <p:sp>
        <p:nvSpPr>
          <p:cNvPr id="3" name="r182"/>
          <p:cNvSpPr/>
          <p:nvPr/>
        </p:nvSpPr>
        <p:spPr>
          <a:xfrm>
            <a:off x="320040" y="4041648"/>
            <a:ext cx="3657600" cy="512064"/>
          </a:xfrm>
          <a:prstGeom prst="roundRect">
            <a:avLst>
              <a:gd name="adj" fmla="val 10714"/>
            </a:avLst>
          </a:prstGeom>
          <a:solidFill>
            <a:schemeClr val="accent1"/>
          </a:solidFill>
          <a:ln/>
        </p:spPr>
      </p:sp>
      <p:sp>
        <p:nvSpPr>
          <p:cNvPr id="4" name="t183"/>
          <p:cNvSpPr txBox="1"/>
          <p:nvPr/>
        </p:nvSpPr>
        <p:spPr>
          <a:xfrm>
            <a:off x="374904" y="4041648"/>
            <a:ext cx="3547872" cy="51206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 Golden / independent oracle</a:t>
            </a:r>
            <a:endParaRPr lang="en-US" sz="1200" dirty="0"/>
          </a:p>
        </p:txBody>
      </p:sp>
      <p:sp>
        <p:nvSpPr>
          <p:cNvPr id="5" name="r184"/>
          <p:cNvSpPr/>
          <p:nvPr/>
        </p:nvSpPr>
        <p:spPr>
          <a:xfrm>
            <a:off x="512064" y="3465576"/>
            <a:ext cx="3273552" cy="512064"/>
          </a:xfrm>
          <a:prstGeom prst="roundRect">
            <a:avLst>
              <a:gd name="adj" fmla="val 10714"/>
            </a:avLst>
          </a:prstGeom>
          <a:solidFill>
            <a:schemeClr val="accent1"/>
          </a:solidFill>
          <a:ln/>
        </p:spPr>
      </p:sp>
      <p:sp>
        <p:nvSpPr>
          <p:cNvPr id="6" name="t185"/>
          <p:cNvSpPr txBox="1"/>
          <p:nvPr/>
        </p:nvSpPr>
        <p:spPr>
          <a:xfrm>
            <a:off x="566928" y="3465576"/>
            <a:ext cx="3163824" cy="51206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 Host C simulation</a:t>
            </a:r>
            <a:endParaRPr lang="en-US" sz="1200" dirty="0"/>
          </a:p>
        </p:txBody>
      </p:sp>
      <p:sp>
        <p:nvSpPr>
          <p:cNvPr id="7" name="r186"/>
          <p:cNvSpPr/>
          <p:nvPr/>
        </p:nvSpPr>
        <p:spPr>
          <a:xfrm>
            <a:off x="704088" y="2889504"/>
            <a:ext cx="2889504" cy="512064"/>
          </a:xfrm>
          <a:prstGeom prst="roundRect">
            <a:avLst>
              <a:gd name="adj" fmla="val 10714"/>
            </a:avLst>
          </a:prstGeom>
          <a:solidFill>
            <a:schemeClr val="accent1"/>
          </a:solidFill>
          <a:ln/>
        </p:spPr>
      </p:sp>
      <p:sp>
        <p:nvSpPr>
          <p:cNvPr id="8" name="t187"/>
          <p:cNvSpPr txBox="1"/>
          <p:nvPr/>
        </p:nvSpPr>
        <p:spPr>
          <a:xfrm>
            <a:off x="758952" y="2889504"/>
            <a:ext cx="2779776" cy="51206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 HLS synthesis (5 ns)</a:t>
            </a:r>
            <a:endParaRPr lang="en-US" sz="1200" dirty="0"/>
          </a:p>
        </p:txBody>
      </p:sp>
      <p:sp>
        <p:nvSpPr>
          <p:cNvPr id="9" name="r188"/>
          <p:cNvSpPr/>
          <p:nvPr/>
        </p:nvSpPr>
        <p:spPr>
          <a:xfrm>
            <a:off x="896112" y="2313432"/>
            <a:ext cx="2505456" cy="512064"/>
          </a:xfrm>
          <a:prstGeom prst="roundRect">
            <a:avLst>
              <a:gd name="adj" fmla="val 10714"/>
            </a:avLst>
          </a:prstGeom>
          <a:solidFill>
            <a:schemeClr val="accent1"/>
          </a:solidFill>
          <a:ln/>
        </p:spPr>
      </p:sp>
      <p:sp>
        <p:nvSpPr>
          <p:cNvPr id="10" name="t189"/>
          <p:cNvSpPr txBox="1"/>
          <p:nvPr/>
        </p:nvSpPr>
        <p:spPr>
          <a:xfrm>
            <a:off x="950976" y="2313432"/>
            <a:ext cx="2395728" cy="51206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 Independent RTL testbench</a:t>
            </a:r>
            <a:endParaRPr lang="en-US" sz="1200" dirty="0"/>
          </a:p>
        </p:txBody>
      </p:sp>
      <p:sp>
        <p:nvSpPr>
          <p:cNvPr id="11" name="r190"/>
          <p:cNvSpPr/>
          <p:nvPr/>
        </p:nvSpPr>
        <p:spPr>
          <a:xfrm>
            <a:off x="1088136" y="1737360"/>
            <a:ext cx="2121408" cy="512064"/>
          </a:xfrm>
          <a:prstGeom prst="roundRect">
            <a:avLst>
              <a:gd name="adj" fmla="val 10714"/>
            </a:avLst>
          </a:prstGeom>
          <a:solidFill>
            <a:schemeClr val="accent1"/>
          </a:solidFill>
          <a:ln/>
        </p:spPr>
      </p:sp>
      <p:sp>
        <p:nvSpPr>
          <p:cNvPr id="12" name="t191"/>
          <p:cNvSpPr txBox="1"/>
          <p:nvPr/>
        </p:nvSpPr>
        <p:spPr>
          <a:xfrm>
            <a:off x="1143000" y="1737360"/>
            <a:ext cx="2011680" cy="51206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 Vivado routed implementation</a:t>
            </a:r>
            <a:endParaRPr lang="en-US" sz="1200" dirty="0"/>
          </a:p>
        </p:txBody>
      </p:sp>
      <p:sp>
        <p:nvSpPr>
          <p:cNvPr id="13" name="r192"/>
          <p:cNvSpPr/>
          <p:nvPr/>
        </p:nvSpPr>
        <p:spPr>
          <a:xfrm>
            <a:off x="1280160" y="1161288"/>
            <a:ext cx="1737360" cy="512064"/>
          </a:xfrm>
          <a:prstGeom prst="roundRect">
            <a:avLst>
              <a:gd name="adj" fmla="val 10714"/>
            </a:avLst>
          </a:prstGeom>
          <a:solidFill>
            <a:schemeClr val="accent1"/>
          </a:solidFill>
          <a:ln/>
        </p:spPr>
      </p:sp>
      <p:sp>
        <p:nvSpPr>
          <p:cNvPr id="14" name="t193"/>
          <p:cNvSpPr txBox="1"/>
          <p:nvPr/>
        </p:nvSpPr>
        <p:spPr>
          <a:xfrm>
            <a:off x="1335024" y="1161288"/>
            <a:ext cx="1627632" cy="51206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 KV260 board run</a:t>
            </a:r>
            <a:endParaRPr lang="en-US" sz="1200" dirty="0"/>
          </a:p>
        </p:txBody>
      </p:sp>
      <p:sp>
        <p:nvSpPr>
          <p:cNvPr id="15" name="r194"/>
          <p:cNvSpPr/>
          <p:nvPr/>
        </p:nvSpPr>
        <p:spPr>
          <a:xfrm>
            <a:off x="4251960" y="914400"/>
            <a:ext cx="4572000" cy="914400"/>
          </a:xfrm>
          <a:prstGeom prst="roundRect">
            <a:avLst>
              <a:gd name="adj" fmla="val 6000"/>
            </a:avLst>
          </a:prstGeom>
          <a:solidFill>
            <a:srgbClr val="FDF3E3"/>
          </a:solidFill>
          <a:ln/>
        </p:spPr>
      </p:sp>
      <p:sp>
        <p:nvSpPr>
          <p:cNvPr id="16" name="t195"/>
          <p:cNvSpPr txBox="1"/>
          <p:nvPr/>
        </p:nvSpPr>
        <p:spPr>
          <a:xfrm>
            <a:off x="4389120" y="950976"/>
            <a:ext cx="4297680" cy="841248"/>
          </a:xfrm>
          <a:prstGeom prst="rect">
            <a:avLst/>
          </a:prstGeom>
          <a:noFill/>
          <a:ln/>
        </p:spPr>
        <p:txBody>
          <a:bodyPr wrap="square" lIns="0" tIns="0" rIns="0" bIns="0" rtlCol="0" anchor="ctr"/>
          <a:lstStyle/>
          <a:p>
            <a:pPr indent="0" marL="0">
              <a:buNone/>
            </a:pPr>
            <a:r>
              <a:rPr lang="en-US" sz="1300" b="1" dirty="0">
                <a:solidFill>
                  <a:srgbClr val="A4661A"/>
                </a:solidFill>
                <a:latin typeface="Calibri" pitchFamily="34" charset="0"/>
                <a:ea typeface="Calibri" pitchFamily="34" charset="-122"/>
                <a:cs typeface="Calibri" pitchFamily="34" charset="-120"/>
              </a:rPr>
              <a:t>Vitis automatic co-simulation</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1 × 1 and 5 × 7 PASS  ·  13 × 17: auto harness stalled → not passed</a:t>
            </a:r>
            <a:endParaRPr lang="en-US" sz="1300" dirty="0"/>
          </a:p>
        </p:txBody>
      </p:sp>
      <p:sp>
        <p:nvSpPr>
          <p:cNvPr id="17" name="r196"/>
          <p:cNvSpPr/>
          <p:nvPr/>
        </p:nvSpPr>
        <p:spPr>
          <a:xfrm>
            <a:off x="4251960" y="1938528"/>
            <a:ext cx="4572000" cy="1874520"/>
          </a:xfrm>
          <a:prstGeom prst="roundRect">
            <a:avLst>
              <a:gd name="adj" fmla="val 2927"/>
            </a:avLst>
          </a:prstGeom>
          <a:solidFill>
            <a:schemeClr val="bg2"/>
          </a:solidFill>
          <a:ln/>
        </p:spPr>
      </p:sp>
      <p:sp>
        <p:nvSpPr>
          <p:cNvPr id="18" name="t197"/>
          <p:cNvSpPr txBox="1"/>
          <p:nvPr/>
        </p:nvSpPr>
        <p:spPr>
          <a:xfrm>
            <a:off x="4389120" y="1993392"/>
            <a:ext cx="4297680" cy="292608"/>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Independent SystemVerilog AXI testbench</a:t>
            </a:r>
            <a:endParaRPr lang="en-US" sz="1300" dirty="0"/>
          </a:p>
        </p:txBody>
      </p:sp>
      <p:sp>
        <p:nvSpPr>
          <p:cNvPr id="19" name="t198"/>
          <p:cNvSpPr txBox="1"/>
          <p:nvPr/>
        </p:nvSpPr>
        <p:spPr>
          <a:xfrm>
            <a:off x="4343400" y="2304288"/>
            <a:ext cx="4389120" cy="146304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13 × 17 dynamic and fixed modes: PASS</a:t>
            </a:r>
            <a:endParaRPr lang="en-US" sz="1300" dirty="0"/>
          </a:p>
          <a:p>
            <a:pPr marL="177800" indent="-1778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Q20.12: 2 full 255 × 255 frames, no DUT reset, changed input + model</a:t>
            </a:r>
            <a:endParaRPr lang="en-US" sz="1300" dirty="0"/>
          </a:p>
          <a:p>
            <a:pPr marL="177800" indent="-177800">
              <a:spcAft>
                <a:spcPts val="300"/>
              </a:spcAft>
              <a:buSzPct val="100000"/>
              <a:buChar char="•"/>
            </a:pPr>
            <a:r>
              <a:rPr lang="en-US" sz="1300" b="1" dirty="0">
                <a:solidFill>
                  <a:schemeClr val="tx1"/>
                </a:solidFill>
                <a:latin typeface="Calibri" pitchFamily="34" charset="0"/>
                <a:ea typeface="Calibri" pitchFamily="34" charset="-122"/>
                <a:cs typeface="Calibri" pitchFamily="34" charset="-120"/>
              </a:rPr>
              <a:t>130,050 / 130,050 outputs bit-exact</a:t>
            </a:r>
            <a:endParaRPr lang="en-US" sz="1300" dirty="0"/>
          </a:p>
          <a:p>
            <a:pPr marL="177800" indent="-1778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Corrupted Golden is rejected by the scoreboard</a:t>
            </a:r>
            <a:endParaRPr lang="en-US" sz="1300" dirty="0"/>
          </a:p>
        </p:txBody>
      </p:sp>
      <p:sp>
        <p:nvSpPr>
          <p:cNvPr id="20" name="t199"/>
          <p:cNvSpPr txBox="1"/>
          <p:nvPr/>
        </p:nvSpPr>
        <p:spPr>
          <a:xfrm>
            <a:off x="4251960" y="3931920"/>
            <a:ext cx="4572000" cy="566928"/>
          </a:xfrm>
          <a:prstGeom prst="rect">
            <a:avLst/>
          </a:prstGeom>
          <a:noFill/>
          <a:ln/>
        </p:spPr>
        <p:txBody>
          <a:bodyPr wrap="square" lIns="0" tIns="0" rIns="0" bIns="0" rtlCol="0" anchor="ctr"/>
          <a:lstStyle/>
          <a:p>
            <a:pPr indent="0" marL="0">
              <a:buNone/>
            </a:pPr>
            <a:r>
              <a:rPr lang="en-US" sz="1200" b="1" dirty="0">
                <a:solidFill>
                  <a:srgbClr val="A4661A"/>
                </a:solidFill>
                <a:latin typeface="Calibri" pitchFamily="34" charset="0"/>
                <a:ea typeface="Calibri" pitchFamily="34" charset="-122"/>
                <a:cs typeface="Calibri" pitchFamily="34" charset="-120"/>
              </a:rPr>
              <a:t>Open: </a:t>
            </a:r>
            <a:pPr indent="0" marL="0">
              <a:buNone/>
            </a:pPr>
            <a:r>
              <a:rPr lang="en-US" sz="1200" dirty="0">
                <a:solidFill>
                  <a:schemeClr val="tx1"/>
                </a:solidFill>
                <a:latin typeface="Calibri" pitchFamily="34" charset="0"/>
                <a:ea typeface="Calibri" pitchFamily="34" charset="-122"/>
                <a:cs typeface="Calibri" pitchFamily="34" charset="-120"/>
              </a:rPr>
              <a:t>root cause of the auto-harness stall — the RTL is covered by our testbench and by the board run.</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tx2"/>
                </a:solidFill>
                <a:latin typeface="Arial" pitchFamily="34" charset="0"/>
                <a:ea typeface="Arial" pitchFamily="34" charset="-122"/>
                <a:cs typeface="Arial" pitchFamily="34" charset="-120"/>
              </a:rPr>
              <a:t>Both V3 overlays pass bit-exact on the KV260</a:t>
            </a:r>
            <a:endParaRPr lang="en-US" sz="2400" dirty="0"/>
          </a:p>
        </p:txBody>
      </p:sp>
      <p:graphicFrame>
        <p:nvGraphicFramePr>
          <p:cNvPr id="10" name="v3-table"/>
          <p:cNvGraphicFramePr>
            <a:graphicFrameLocks noGrp="1"/>
          </p:cNvGraphicFramePr>
          <p:nvPr>
            <p:extLst>
              <p:ext uri="{D42A27DB-BD31-4B8C-83A1-F6EECF244321}">
                <p14:modId xmlns:p14="http://schemas.microsoft.com/office/powerpoint/2010/main" val="1579011935"/>
              </p:ext>
            </p:extLst>
          </p:nvPr>
        </p:nvGraphicFramePr>
        <p:xfrm>
          <a:off x="457200" y="914400"/>
          <a:ext cx="3931920" cy="914400"/>
        </p:xfrm>
        <a:graphic>
          <a:graphicData uri="http://schemas.openxmlformats.org/drawingml/2006/table">
            <a:tbl>
              <a:tblPr/>
              <a:tblGrid>
                <a:gridCol w="1737360"/>
                <a:gridCol w="1097280"/>
                <a:gridCol w="1097280"/>
              </a:tblGrid>
              <a:tr h="3383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V3 routed (5.000 ns)</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solidFill>
                      <a:srgbClr val="0B1F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Q24.8</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solidFill>
                      <a:srgbClr val="0B1F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Q20.12</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solidFill>
                      <a:srgbClr val="0B1F3A"/>
                    </a:solidFill>
                  </a:tcPr>
                </a:tc>
              </a:tr>
              <a:tr h="338328">
                <a:tc>
                  <a:txBody>
                    <a:bodyPr/>
                    <a:lstStyle/>
                    <a:p>
                      <a:pPr indent="0" marL="0">
                        <a:buNone/>
                      </a:pPr>
                      <a:r>
                        <a:rPr lang="en-US" sz="1300" b="1" dirty="0">
                          <a:solidFill>
                            <a:srgbClr val="16202E"/>
                          </a:solidFill>
                          <a:latin typeface="Calibri" pitchFamily="34" charset="0"/>
                          <a:ea typeface="Calibri" pitchFamily="34" charset="-122"/>
                          <a:cs typeface="Calibri" pitchFamily="34" charset="-120"/>
                        </a:rPr>
                        <a:t>Setup WNS</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b="1" dirty="0">
                          <a:solidFill>
                            <a:srgbClr val="2E7D5B"/>
                          </a:solidFill>
                          <a:latin typeface="Calibri" pitchFamily="34" charset="0"/>
                          <a:ea typeface="Calibri" pitchFamily="34" charset="-122"/>
                          <a:cs typeface="Calibri" pitchFamily="34" charset="-120"/>
                        </a:rPr>
                        <a:t>+0.105 ns</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b="1" dirty="0">
                          <a:solidFill>
                            <a:srgbClr val="2E7D5B"/>
                          </a:solidFill>
                          <a:latin typeface="Calibri" pitchFamily="34" charset="0"/>
                          <a:ea typeface="Calibri" pitchFamily="34" charset="-122"/>
                          <a:cs typeface="Calibri" pitchFamily="34" charset="-120"/>
                        </a:rPr>
                        <a:t>+0.109 ns</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r>
              <a:tr h="338328">
                <a:tc>
                  <a:txBody>
                    <a:bodyPr/>
                    <a:lstStyle/>
                    <a:p>
                      <a:pPr indent="0" marL="0">
                        <a:buNone/>
                      </a:pPr>
                      <a:r>
                        <a:rPr lang="en-US" sz="1300" dirty="0">
                          <a:solidFill>
                            <a:srgbClr val="16202E"/>
                          </a:solidFill>
                          <a:latin typeface="Calibri" pitchFamily="34" charset="0"/>
                          <a:ea typeface="Calibri" pitchFamily="34" charset="-122"/>
                          <a:cs typeface="Calibri" pitchFamily="34" charset="-120"/>
                        </a:rPr>
                        <a:t>LUT</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16,087</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16,328</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r>
              <a:tr h="338328">
                <a:tc>
                  <a:txBody>
                    <a:bodyPr/>
                    <a:lstStyle/>
                    <a:p>
                      <a:pPr indent="0" marL="0">
                        <a:buNone/>
                      </a:pPr>
                      <a:r>
                        <a:rPr lang="en-US" sz="1300" dirty="0">
                          <a:solidFill>
                            <a:srgbClr val="16202E"/>
                          </a:solidFill>
                          <a:latin typeface="Calibri" pitchFamily="34" charset="0"/>
                          <a:ea typeface="Calibri" pitchFamily="34" charset="-122"/>
                          <a:cs typeface="Calibri" pitchFamily="34" charset="-120"/>
                        </a:rPr>
                        <a:t>FF</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17,377</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18,020</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r>
              <a:tr h="338328">
                <a:tc>
                  <a:txBody>
                    <a:bodyPr/>
                    <a:lstStyle/>
                    <a:p>
                      <a:pPr indent="0" marL="0">
                        <a:buNone/>
                      </a:pPr>
                      <a:r>
                        <a:rPr lang="en-US" sz="1300" dirty="0">
                          <a:solidFill>
                            <a:srgbClr val="16202E"/>
                          </a:solidFill>
                          <a:latin typeface="Calibri" pitchFamily="34" charset="0"/>
                          <a:ea typeface="Calibri" pitchFamily="34" charset="-122"/>
                          <a:cs typeface="Calibri" pitchFamily="34" charset="-120"/>
                        </a:rPr>
                        <a:t>BRAM tiles</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97</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97.5</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r>
              <a:tr h="338328">
                <a:tc>
                  <a:txBody>
                    <a:bodyPr/>
                    <a:lstStyle/>
                    <a:p>
                      <a:pPr indent="0" marL="0">
                        <a:buNone/>
                      </a:pPr>
                      <a:r>
                        <a:rPr lang="en-US" sz="1300" dirty="0">
                          <a:solidFill>
                            <a:srgbClr val="16202E"/>
                          </a:solidFill>
                          <a:latin typeface="Calibri" pitchFamily="34" charset="0"/>
                          <a:ea typeface="Calibri" pitchFamily="34" charset="-122"/>
                          <a:cs typeface="Calibri" pitchFamily="34" charset="-120"/>
                        </a:rPr>
                        <a:t>DSP</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86</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c>
                  <a:txBody>
                    <a:bodyPr/>
                    <a:lstStyle/>
                    <a:p>
                      <a:pPr algn="r" indent="0" marL="0">
                        <a:buNone/>
                      </a:pPr>
                      <a:r>
                        <a:rPr lang="en-US" sz="1300" dirty="0">
                          <a:solidFill>
                            <a:srgbClr val="16202E"/>
                          </a:solidFill>
                          <a:latin typeface="Calibri" pitchFamily="34" charset="0"/>
                          <a:ea typeface="Calibri" pitchFamily="34" charset="-122"/>
                          <a:cs typeface="Calibri" pitchFamily="34" charset="-120"/>
                        </a:rPr>
                        <a:t>86</a:t>
                      </a:r>
                      <a:endParaRPr lang="en-US" sz="1300" dirty="0">
                        <a:latin typeface="Calibri" charset="0"/>
                        <a:ea typeface="Calibri" charset="0"/>
                        <a:cs typeface="Calibri" charset="0"/>
                      </a:endParaRPr>
                    </a:p>
                  </a:txBody>
                  <a:tcPr marL="91440" marR="91440" marT="45720" marB="45720">
                    <a:lnL w="9525" cap="flat" cmpd="sng" algn="ctr">
                      <a:solidFill>
                        <a:srgbClr val="D5E2EA"/>
                      </a:solidFill>
                      <a:prstDash val="solid"/>
                      <a:round/>
                      <a:headEnd type="none" w="med" len="med"/>
                      <a:tailEnd type="none" w="med" len="med"/>
                    </a:lnL>
                    <a:lnR w="9525" cap="flat" cmpd="sng" algn="ctr">
                      <a:solidFill>
                        <a:srgbClr val="D5E2EA"/>
                      </a:solidFill>
                      <a:prstDash val="solid"/>
                      <a:round/>
                      <a:headEnd type="none" w="med" len="med"/>
                      <a:tailEnd type="none" w="med" len="med"/>
                    </a:lnR>
                    <a:lnT w="9525" cap="flat" cmpd="sng" algn="ctr">
                      <a:solidFill>
                        <a:srgbClr val="D5E2EA"/>
                      </a:solidFill>
                      <a:prstDash val="solid"/>
                      <a:round/>
                      <a:headEnd type="none" w="med" len="med"/>
                      <a:tailEnd type="none" w="med" len="med"/>
                    </a:lnT>
                    <a:lnB w="9525" cap="flat" cmpd="sng" algn="ctr">
                      <a:solidFill>
                        <a:srgbClr val="D5E2EA"/>
                      </a:solidFill>
                      <a:prstDash val="solid"/>
                      <a:round/>
                      <a:headEnd type="none" w="med" len="med"/>
                      <a:tailEnd type="none" w="med" len="med"/>
                    </a:lnB>
                  </a:tcPr>
                </a:tc>
              </a:tr>
            </a:tbl>
          </a:graphicData>
        </a:graphic>
      </p:graphicFrame>
      <p:sp>
        <p:nvSpPr>
          <p:cNvPr id="4" name="r200"/>
          <p:cNvSpPr/>
          <p:nvPr/>
        </p:nvSpPr>
        <p:spPr>
          <a:xfrm>
            <a:off x="457200" y="3127248"/>
            <a:ext cx="3931920" cy="658368"/>
          </a:xfrm>
          <a:prstGeom prst="roundRect">
            <a:avLst>
              <a:gd name="adj" fmla="val 8333"/>
            </a:avLst>
          </a:prstGeom>
          <a:solidFill>
            <a:schemeClr val="bg2"/>
          </a:solidFill>
          <a:ln/>
        </p:spPr>
      </p:sp>
      <p:sp>
        <p:nvSpPr>
          <p:cNvPr id="5" name="t201"/>
          <p:cNvSpPr txBox="1"/>
          <p:nvPr/>
        </p:nvSpPr>
        <p:spPr>
          <a:xfrm>
            <a:off x="594360" y="3127248"/>
            <a:ext cx="3703320" cy="658368"/>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V2 → V3 fix  </a:t>
            </a:r>
            <a:pPr indent="0" marL="0">
              <a:buNone/>
            </a:pPr>
            <a:r>
              <a:rPr lang="en-US" sz="1200" dirty="0">
                <a:solidFill>
                  <a:schemeClr val="tx1"/>
                </a:solidFill>
                <a:latin typeface="Calibri" pitchFamily="34" charset="0"/>
                <a:ea typeface="Calibri" pitchFamily="34" charset="-122"/>
                <a:cs typeface="Calibri" pitchFamily="34" charset="-120"/>
              </a:rPr>
              <a:t>auxiliary reset was tied low and held AXI in reset; V3 ties it high.</a:t>
            </a:r>
            <a:endParaRPr lang="en-US" sz="1200" dirty="0"/>
          </a:p>
        </p:txBody>
      </p:sp>
      <p:sp>
        <p:nvSpPr>
          <p:cNvPr id="6" name="r202"/>
          <p:cNvSpPr/>
          <p:nvPr/>
        </p:nvSpPr>
        <p:spPr>
          <a:xfrm>
            <a:off x="4617720" y="914400"/>
            <a:ext cx="4206240" cy="2871216"/>
          </a:xfrm>
          <a:prstGeom prst="roundRect">
            <a:avLst>
              <a:gd name="adj" fmla="val 1911"/>
            </a:avLst>
          </a:prstGeom>
          <a:solidFill>
            <a:schemeClr val="tx2"/>
          </a:solidFill>
          <a:ln/>
        </p:spPr>
      </p:sp>
      <p:sp>
        <p:nvSpPr>
          <p:cNvPr id="7" name="t203"/>
          <p:cNvSpPr txBox="1"/>
          <p:nvPr/>
        </p:nvSpPr>
        <p:spPr>
          <a:xfrm>
            <a:off x="4800600" y="987552"/>
            <a:ext cx="3840480" cy="274320"/>
          </a:xfrm>
          <a:prstGeom prst="rect">
            <a:avLst/>
          </a:prstGeom>
          <a:noFill/>
          <a:ln/>
        </p:spPr>
        <p:txBody>
          <a:bodyPr wrap="square" lIns="0" tIns="0" rIns="0" bIns="0" rtlCol="0" anchor="ctr"/>
          <a:lstStyle/>
          <a:p>
            <a:pPr indent="0" marL="0">
              <a:buNone/>
            </a:pPr>
            <a:r>
              <a:rPr lang="en-US" sz="1100" b="1" spc="100" kern="0" dirty="0">
                <a:solidFill>
                  <a:schemeClr val="accent5"/>
                </a:solidFill>
                <a:latin typeface="Calibri" pitchFamily="34" charset="0"/>
                <a:ea typeface="Calibri" pitchFamily="34" charset="-122"/>
                <a:cs typeface="Calibri" pitchFamily="34" charset="-120"/>
              </a:rPr>
              <a:t>KV260 BOARD RUN · EACH FORMAT</a:t>
            </a:r>
            <a:endParaRPr lang="en-US" sz="1100" dirty="0"/>
          </a:p>
        </p:txBody>
      </p:sp>
      <p:sp>
        <p:nvSpPr>
          <p:cNvPr id="8" name="t204"/>
          <p:cNvSpPr txBox="1"/>
          <p:nvPr/>
        </p:nvSpPr>
        <p:spPr>
          <a:xfrm>
            <a:off x="4800600" y="1280160"/>
            <a:ext cx="1920240" cy="566928"/>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14 / 14</a:t>
            </a:r>
            <a:endParaRPr lang="en-US" sz="3200" dirty="0"/>
          </a:p>
        </p:txBody>
      </p:sp>
      <p:sp>
        <p:nvSpPr>
          <p:cNvPr id="9" name="t205"/>
          <p:cNvSpPr txBox="1"/>
          <p:nvPr/>
        </p:nvSpPr>
        <p:spPr>
          <a:xfrm>
            <a:off x="4800600" y="1828800"/>
            <a:ext cx="1920240" cy="27432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frames PASS</a:t>
            </a:r>
            <a:endParaRPr lang="en-US" sz="1200" dirty="0"/>
          </a:p>
        </p:txBody>
      </p:sp>
      <p:sp>
        <p:nvSpPr>
          <p:cNvPr id="10" name="t206"/>
          <p:cNvSpPr txBox="1"/>
          <p:nvPr/>
        </p:nvSpPr>
        <p:spPr>
          <a:xfrm>
            <a:off x="6812280" y="1280160"/>
            <a:ext cx="1920240" cy="566928"/>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0.750 s</a:t>
            </a:r>
            <a:endParaRPr lang="en-US" sz="3200" dirty="0"/>
          </a:p>
        </p:txBody>
      </p:sp>
      <p:sp>
        <p:nvSpPr>
          <p:cNvPr id="11" name="t207"/>
          <p:cNvSpPr txBox="1"/>
          <p:nvPr/>
        </p:nvSpPr>
        <p:spPr>
          <a:xfrm>
            <a:off x="6812280" y="1828800"/>
            <a:ext cx="1920240" cy="27432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median per frame</a:t>
            </a:r>
            <a:endParaRPr lang="en-US" sz="1200" dirty="0"/>
          </a:p>
        </p:txBody>
      </p:sp>
      <p:sp>
        <p:nvSpPr>
          <p:cNvPr id="12" name="t208"/>
          <p:cNvSpPr txBox="1"/>
          <p:nvPr/>
        </p:nvSpPr>
        <p:spPr>
          <a:xfrm>
            <a:off x="4800600" y="2212848"/>
            <a:ext cx="3886200" cy="45720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Every frame: 65,025 / 65,025 output words match the fixed-point Golden</a:t>
            </a:r>
            <a:endParaRPr lang="en-US" sz="1300" dirty="0"/>
          </a:p>
        </p:txBody>
      </p:sp>
      <p:sp>
        <p:nvSpPr>
          <p:cNvPr id="13" name="r209"/>
          <p:cNvSpPr/>
          <p:nvPr/>
        </p:nvSpPr>
        <p:spPr>
          <a:xfrm>
            <a:off x="4800600" y="2788920"/>
            <a:ext cx="658368" cy="475488"/>
          </a:xfrm>
          <a:prstGeom prst="roundRect">
            <a:avLst>
              <a:gd name="adj" fmla="val 11538"/>
            </a:avLst>
          </a:prstGeom>
          <a:solidFill>
            <a:schemeClr val="accent1"/>
          </a:solidFill>
          <a:ln/>
        </p:spPr>
      </p:sp>
      <p:sp>
        <p:nvSpPr>
          <p:cNvPr id="14" name="t210"/>
          <p:cNvSpPr txBox="1"/>
          <p:nvPr/>
        </p:nvSpPr>
        <p:spPr>
          <a:xfrm>
            <a:off x="4855464" y="2788920"/>
            <a:ext cx="548640" cy="475488"/>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Warm-up</a:t>
            </a:r>
            <a:endParaRPr lang="en-US" sz="1000" dirty="0"/>
          </a:p>
        </p:txBody>
      </p:sp>
      <p:sp>
        <p:nvSpPr>
          <p:cNvPr id="15" name="r211"/>
          <p:cNvSpPr/>
          <p:nvPr/>
        </p:nvSpPr>
        <p:spPr>
          <a:xfrm>
            <a:off x="5504688" y="2788920"/>
            <a:ext cx="731520" cy="475488"/>
          </a:xfrm>
          <a:prstGeom prst="roundRect">
            <a:avLst>
              <a:gd name="adj" fmla="val 11538"/>
            </a:avLst>
          </a:prstGeom>
          <a:solidFill>
            <a:schemeClr val="accent1"/>
          </a:solidFill>
          <a:ln/>
        </p:spPr>
      </p:sp>
      <p:sp>
        <p:nvSpPr>
          <p:cNvPr id="16" name="t212"/>
          <p:cNvSpPr txBox="1"/>
          <p:nvPr/>
        </p:nvSpPr>
        <p:spPr>
          <a:xfrm>
            <a:off x="5559552" y="2788920"/>
            <a:ext cx="621792" cy="475488"/>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10 repeats</a:t>
            </a:r>
            <a:endParaRPr lang="en-US" sz="1000" dirty="0"/>
          </a:p>
        </p:txBody>
      </p:sp>
      <p:sp>
        <p:nvSpPr>
          <p:cNvPr id="17" name="r213"/>
          <p:cNvSpPr/>
          <p:nvPr/>
        </p:nvSpPr>
        <p:spPr>
          <a:xfrm>
            <a:off x="6281928" y="2788920"/>
            <a:ext cx="960120" cy="475488"/>
          </a:xfrm>
          <a:prstGeom prst="roundRect">
            <a:avLst>
              <a:gd name="adj" fmla="val 11538"/>
            </a:avLst>
          </a:prstGeom>
          <a:solidFill>
            <a:schemeClr val="accent1"/>
          </a:solidFill>
          <a:ln/>
        </p:spPr>
      </p:sp>
      <p:sp>
        <p:nvSpPr>
          <p:cNvPr id="18" name="t214"/>
          <p:cNvSpPr txBox="1"/>
          <p:nvPr/>
        </p:nvSpPr>
        <p:spPr>
          <a:xfrm>
            <a:off x="6336792" y="2788920"/>
            <a:ext cx="850392" cy="475488"/>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New input + model</a:t>
            </a:r>
            <a:endParaRPr lang="en-US" sz="1000" dirty="0"/>
          </a:p>
        </p:txBody>
      </p:sp>
      <p:sp>
        <p:nvSpPr>
          <p:cNvPr id="19" name="r215"/>
          <p:cNvSpPr/>
          <p:nvPr/>
        </p:nvSpPr>
        <p:spPr>
          <a:xfrm>
            <a:off x="7287768" y="2788920"/>
            <a:ext cx="685800" cy="475488"/>
          </a:xfrm>
          <a:prstGeom prst="roundRect">
            <a:avLst>
              <a:gd name="adj" fmla="val 11538"/>
            </a:avLst>
          </a:prstGeom>
          <a:solidFill>
            <a:schemeClr val="accent1"/>
          </a:solidFill>
          <a:ln/>
        </p:spPr>
      </p:sp>
      <p:sp>
        <p:nvSpPr>
          <p:cNvPr id="20" name="t216"/>
          <p:cNvSpPr txBox="1"/>
          <p:nvPr/>
        </p:nvSpPr>
        <p:spPr>
          <a:xfrm>
            <a:off x="7342632" y="2788920"/>
            <a:ext cx="576072" cy="475488"/>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Restored</a:t>
            </a:r>
            <a:endParaRPr lang="en-US" sz="1000" dirty="0"/>
          </a:p>
        </p:txBody>
      </p:sp>
      <p:sp>
        <p:nvSpPr>
          <p:cNvPr id="21" name="r217"/>
          <p:cNvSpPr/>
          <p:nvPr/>
        </p:nvSpPr>
        <p:spPr>
          <a:xfrm>
            <a:off x="8019288" y="2788920"/>
            <a:ext cx="731520" cy="475488"/>
          </a:xfrm>
          <a:prstGeom prst="roundRect">
            <a:avLst>
              <a:gd name="adj" fmla="val 11538"/>
            </a:avLst>
          </a:prstGeom>
          <a:solidFill>
            <a:schemeClr val="accent1"/>
          </a:solidFill>
          <a:ln/>
        </p:spPr>
      </p:sp>
      <p:sp>
        <p:nvSpPr>
          <p:cNvPr id="22" name="t218"/>
          <p:cNvSpPr txBox="1"/>
          <p:nvPr/>
        </p:nvSpPr>
        <p:spPr>
          <a:xfrm>
            <a:off x="8074152" y="2788920"/>
            <a:ext cx="621792" cy="475488"/>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Overlay reload</a:t>
            </a:r>
            <a:endParaRPr lang="en-US" sz="1000" dirty="0"/>
          </a:p>
        </p:txBody>
      </p:sp>
      <p:sp>
        <p:nvSpPr>
          <p:cNvPr id="23" name="t219"/>
          <p:cNvSpPr txBox="1"/>
          <p:nvPr/>
        </p:nvSpPr>
        <p:spPr>
          <a:xfrm>
            <a:off x="4800600" y="3364992"/>
            <a:ext cx="3886200" cy="274320"/>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Median: Q24.8 0.7498 s · Q20.12 0.7499 s · P95 ≈ 0.750 s</a:t>
            </a:r>
            <a:endParaRPr lang="en-US" sz="1100" dirty="0"/>
          </a:p>
        </p:txBody>
      </p:sp>
      <p:sp>
        <p:nvSpPr>
          <p:cNvPr id="24" name="r220"/>
          <p:cNvSpPr/>
          <p:nvPr/>
        </p:nvSpPr>
        <p:spPr>
          <a:xfrm>
            <a:off x="457200" y="3931920"/>
            <a:ext cx="8366760" cy="749808"/>
          </a:xfrm>
          <a:prstGeom prst="roundRect">
            <a:avLst>
              <a:gd name="adj" fmla="val 7317"/>
            </a:avLst>
          </a:prstGeom>
          <a:solidFill>
            <a:srgbClr val="FDF3E3"/>
          </a:solidFill>
          <a:ln/>
        </p:spPr>
      </p:sp>
      <p:sp>
        <p:nvSpPr>
          <p:cNvPr id="25" name="t221"/>
          <p:cNvSpPr txBox="1"/>
          <p:nvPr/>
        </p:nvSpPr>
        <p:spPr>
          <a:xfrm>
            <a:off x="640080" y="3931920"/>
            <a:ext cx="8046720" cy="749808"/>
          </a:xfrm>
          <a:prstGeom prst="rect">
            <a:avLst/>
          </a:prstGeom>
          <a:noFill/>
          <a:ln/>
        </p:spPr>
        <p:txBody>
          <a:bodyPr wrap="square" lIns="0" tIns="0" rIns="0" bIns="0" rtlCol="0" anchor="ctr"/>
          <a:lstStyle/>
          <a:p>
            <a:pPr indent="0" marL="0">
              <a:buNone/>
            </a:pPr>
            <a:r>
              <a:rPr lang="en-US" sz="1200" b="1" dirty="0">
                <a:solidFill>
                  <a:srgbClr val="A4661A"/>
                </a:solidFill>
                <a:latin typeface="Calibri" pitchFamily="34" charset="0"/>
                <a:ea typeface="Calibri" pitchFamily="34" charset="-122"/>
                <a:cs typeface="Calibri" pitchFamily="34" charset="-120"/>
              </a:rPr>
              <a:t>Scope:  </a:t>
            </a:r>
            <a:pPr indent="0" marL="0">
              <a:buNone/>
            </a:pPr>
            <a:r>
              <a:rPr lang="en-US" sz="1200" dirty="0">
                <a:solidFill>
                  <a:schemeClr val="tx1"/>
                </a:solidFill>
                <a:latin typeface="Calibri" pitchFamily="34" charset="0"/>
                <a:ea typeface="Calibri" pitchFamily="34" charset="-122"/>
                <a:cs typeface="Calibri" pitchFamily="34" charset="-120"/>
              </a:rPr>
              <a:t>host-observed transfer start → done, including model load and DMA — not kernel-only, and not a CPU speedup. Bit-exact means equal to the fixed-point Golden, not zero error versus float.</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56032"/>
            <a:ext cx="8229600" cy="566928"/>
          </a:xfrm>
          <a:prstGeom prst="rect">
            <a:avLst/>
          </a:prstGeom>
          <a:noFill/>
          <a:ln/>
        </p:spPr>
        <p:txBody>
          <a:bodyPr wrap="square" lIns="0" tIns="0" rIns="0" bIns="0" rtlCol="0" anchor="ctr"/>
          <a:lstStyle/>
          <a:p>
            <a:pPr algn="l" indent="0" marL="0">
              <a:buNone/>
            </a:pPr>
            <a:r>
              <a:rPr lang="en-US" sz="2400" b="1" dirty="0">
                <a:solidFill>
                  <a:schemeClr val="bg1"/>
                </a:solidFill>
                <a:latin typeface="Arial" pitchFamily="34" charset="0"/>
                <a:ea typeface="Arial" pitchFamily="34" charset="-122"/>
                <a:cs typeface="Arial" pitchFamily="34" charset="-120"/>
              </a:rPr>
              <a:t>Board gate passed — next: fair CPU comparison</a:t>
            </a:r>
            <a:endParaRPr lang="en-US" sz="2400" dirty="0"/>
          </a:p>
        </p:txBody>
      </p:sp>
      <p:sp>
        <p:nvSpPr>
          <p:cNvPr id="3" name="t222"/>
          <p:cNvSpPr txBox="1"/>
          <p:nvPr/>
        </p:nvSpPr>
        <p:spPr>
          <a:xfrm>
            <a:off x="457200" y="914400"/>
            <a:ext cx="3657600" cy="274320"/>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COMPLETED</a:t>
            </a:r>
            <a:endParaRPr lang="en-US" sz="1200" dirty="0"/>
          </a:p>
        </p:txBody>
      </p:sp>
      <p:sp>
        <p:nvSpPr>
          <p:cNvPr id="4" name="t223"/>
          <p:cNvSpPr txBox="1"/>
          <p:nvPr/>
        </p:nvSpPr>
        <p:spPr>
          <a:xfrm>
            <a:off x="457200" y="1207008"/>
            <a:ext cx="3931920" cy="28346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  </a:t>
            </a:r>
            <a:pPr indent="0" marL="0">
              <a:buNone/>
            </a:pPr>
            <a:r>
              <a:rPr lang="en-US" sz="1300" dirty="0">
                <a:solidFill>
                  <a:schemeClr val="bg1"/>
                </a:solidFill>
                <a:latin typeface="Calibri" pitchFamily="34" charset="0"/>
                <a:ea typeface="Calibri" pitchFamily="34" charset="-122"/>
                <a:cs typeface="Calibri" pitchFamily="34" charset="-120"/>
              </a:rPr>
              <a:t>Golden and host verification</a:t>
            </a:r>
            <a:endParaRPr lang="en-US" sz="1300" dirty="0"/>
          </a:p>
        </p:txBody>
      </p:sp>
      <p:sp>
        <p:nvSpPr>
          <p:cNvPr id="5" name="t224"/>
          <p:cNvSpPr txBox="1"/>
          <p:nvPr/>
        </p:nvSpPr>
        <p:spPr>
          <a:xfrm>
            <a:off x="457200" y="1513332"/>
            <a:ext cx="3931920" cy="28346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  </a:t>
            </a:r>
            <a:pPr indent="0" marL="0">
              <a:buNone/>
            </a:pPr>
            <a:r>
              <a:rPr lang="en-US" sz="1300" dirty="0">
                <a:solidFill>
                  <a:schemeClr val="bg1"/>
                </a:solidFill>
                <a:latin typeface="Calibri" pitchFamily="34" charset="0"/>
                <a:ea typeface="Calibri" pitchFamily="34" charset="-122"/>
                <a:cs typeface="Calibri" pitchFamily="34" charset="-120"/>
              </a:rPr>
              <a:t>Line-buffered OC4 accelerator</a:t>
            </a:r>
            <a:endParaRPr lang="en-US" sz="1300" dirty="0"/>
          </a:p>
        </p:txBody>
      </p:sp>
      <p:sp>
        <p:nvSpPr>
          <p:cNvPr id="6" name="t225"/>
          <p:cNvSpPr txBox="1"/>
          <p:nvPr/>
        </p:nvSpPr>
        <p:spPr>
          <a:xfrm>
            <a:off x="457200" y="1819656"/>
            <a:ext cx="3931920" cy="28346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  </a:t>
            </a:r>
            <a:pPr indent="0" marL="0">
              <a:buNone/>
            </a:pPr>
            <a:r>
              <a:rPr lang="en-US" sz="1300" dirty="0">
                <a:solidFill>
                  <a:schemeClr val="bg1"/>
                </a:solidFill>
                <a:latin typeface="Calibri" pitchFamily="34" charset="0"/>
                <a:ea typeface="Calibri" pitchFamily="34" charset="-122"/>
                <a:cs typeface="Calibri" pitchFamily="34" charset="-120"/>
              </a:rPr>
              <a:t>AXI-Stream / DATAFLOW datapath</a:t>
            </a:r>
            <a:endParaRPr lang="en-US" sz="1300" dirty="0"/>
          </a:p>
        </p:txBody>
      </p:sp>
      <p:sp>
        <p:nvSpPr>
          <p:cNvPr id="7" name="t226"/>
          <p:cNvSpPr txBox="1"/>
          <p:nvPr/>
        </p:nvSpPr>
        <p:spPr>
          <a:xfrm>
            <a:off x="457200" y="2125980"/>
            <a:ext cx="3931920" cy="28346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  </a:t>
            </a:r>
            <a:pPr indent="0" marL="0">
              <a:buNone/>
            </a:pPr>
            <a:r>
              <a:rPr lang="en-US" sz="1300" dirty="0">
                <a:solidFill>
                  <a:schemeClr val="bg1"/>
                </a:solidFill>
                <a:latin typeface="Calibri" pitchFamily="34" charset="0"/>
                <a:ea typeface="Calibri" pitchFamily="34" charset="-122"/>
                <a:cs typeface="Calibri" pitchFamily="34" charset="-120"/>
              </a:rPr>
              <a:t>Q20.12 precision profile</a:t>
            </a:r>
            <a:endParaRPr lang="en-US" sz="1300" dirty="0"/>
          </a:p>
        </p:txBody>
      </p:sp>
      <p:sp>
        <p:nvSpPr>
          <p:cNvPr id="8" name="t227"/>
          <p:cNvSpPr txBox="1"/>
          <p:nvPr/>
        </p:nvSpPr>
        <p:spPr>
          <a:xfrm>
            <a:off x="457200" y="2432304"/>
            <a:ext cx="3931920" cy="28346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  </a:t>
            </a:r>
            <a:pPr indent="0" marL="0">
              <a:buNone/>
            </a:pPr>
            <a:r>
              <a:rPr lang="en-US" sz="1300" dirty="0">
                <a:solidFill>
                  <a:schemeClr val="bg1"/>
                </a:solidFill>
                <a:latin typeface="Calibri" pitchFamily="34" charset="0"/>
                <a:ea typeface="Calibri" pitchFamily="34" charset="-122"/>
                <a:cs typeface="Calibri" pitchFamily="34" charset="-120"/>
              </a:rPr>
              <a:t>Full-frame independent RTL validation</a:t>
            </a:r>
            <a:endParaRPr lang="en-US" sz="1300" dirty="0"/>
          </a:p>
        </p:txBody>
      </p:sp>
      <p:sp>
        <p:nvSpPr>
          <p:cNvPr id="9" name="t228"/>
          <p:cNvSpPr txBox="1"/>
          <p:nvPr/>
        </p:nvSpPr>
        <p:spPr>
          <a:xfrm>
            <a:off x="457200" y="2738628"/>
            <a:ext cx="3931920" cy="28346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  </a:t>
            </a:r>
            <a:pPr indent="0" marL="0">
              <a:buNone/>
            </a:pPr>
            <a:r>
              <a:rPr lang="en-US" sz="1300" dirty="0">
                <a:solidFill>
                  <a:schemeClr val="bg1"/>
                </a:solidFill>
                <a:latin typeface="Calibri" pitchFamily="34" charset="0"/>
                <a:ea typeface="Calibri" pitchFamily="34" charset="-122"/>
                <a:cs typeface="Calibri" pitchFamily="34" charset="-120"/>
              </a:rPr>
              <a:t>200 MHz routed V3 implementation</a:t>
            </a:r>
            <a:endParaRPr lang="en-US" sz="1300" dirty="0"/>
          </a:p>
        </p:txBody>
      </p:sp>
      <p:sp>
        <p:nvSpPr>
          <p:cNvPr id="10" name="t229"/>
          <p:cNvSpPr txBox="1"/>
          <p:nvPr/>
        </p:nvSpPr>
        <p:spPr>
          <a:xfrm>
            <a:off x="457200" y="3044952"/>
            <a:ext cx="3931920" cy="28346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  </a:t>
            </a:r>
            <a:pPr indent="0" marL="0">
              <a:buNone/>
            </a:pPr>
            <a:r>
              <a:rPr lang="en-US" sz="1300" dirty="0">
                <a:solidFill>
                  <a:schemeClr val="bg1"/>
                </a:solidFill>
                <a:latin typeface="Calibri" pitchFamily="34" charset="0"/>
                <a:ea typeface="Calibri" pitchFamily="34" charset="-122"/>
                <a:cs typeface="Calibri" pitchFamily="34" charset="-120"/>
              </a:rPr>
              <a:t>KV260: Q24.8 + Q20.12 PASS (14 frames each)</a:t>
            </a:r>
            <a:endParaRPr lang="en-US" sz="1300" dirty="0"/>
          </a:p>
        </p:txBody>
      </p:sp>
      <p:sp>
        <p:nvSpPr>
          <p:cNvPr id="11" name="t230"/>
          <p:cNvSpPr txBox="1"/>
          <p:nvPr/>
        </p:nvSpPr>
        <p:spPr>
          <a:xfrm>
            <a:off x="457200" y="3351276"/>
            <a:ext cx="3931920" cy="283464"/>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  </a:t>
            </a:r>
            <a:pPr indent="0" marL="0">
              <a:buNone/>
            </a:pPr>
            <a:r>
              <a:rPr lang="en-US" sz="1300" dirty="0">
                <a:solidFill>
                  <a:schemeClr val="bg1"/>
                </a:solidFill>
                <a:latin typeface="Calibri" pitchFamily="34" charset="0"/>
                <a:ea typeface="Calibri" pitchFamily="34" charset="-122"/>
                <a:cs typeface="Calibri" pitchFamily="34" charset="-120"/>
              </a:rPr>
              <a:t>Repeats, new model, overlay reload</a:t>
            </a:r>
            <a:endParaRPr lang="en-US" sz="1300" dirty="0"/>
          </a:p>
        </p:txBody>
      </p:sp>
      <p:sp>
        <p:nvSpPr>
          <p:cNvPr id="12" name="r231"/>
          <p:cNvSpPr/>
          <p:nvPr/>
        </p:nvSpPr>
        <p:spPr>
          <a:xfrm>
            <a:off x="4526280" y="914400"/>
            <a:ext cx="4297680" cy="2468880"/>
          </a:xfrm>
          <a:prstGeom prst="roundRect">
            <a:avLst>
              <a:gd name="adj" fmla="val 2222"/>
            </a:avLst>
          </a:prstGeom>
          <a:solidFill>
            <a:schemeClr val="accent2"/>
          </a:solidFill>
          <a:ln/>
        </p:spPr>
      </p:sp>
      <p:sp>
        <p:nvSpPr>
          <p:cNvPr id="13" name="t232"/>
          <p:cNvSpPr txBox="1"/>
          <p:nvPr/>
        </p:nvSpPr>
        <p:spPr>
          <a:xfrm>
            <a:off x="4709160" y="987552"/>
            <a:ext cx="4023360" cy="274320"/>
          </a:xfrm>
          <a:prstGeom prst="rect">
            <a:avLst/>
          </a:prstGeom>
          <a:noFill/>
          <a:ln/>
        </p:spPr>
        <p:txBody>
          <a:bodyPr wrap="square" lIns="0" tIns="0" rIns="0" bIns="0" rtlCol="0" anchor="ctr"/>
          <a:lstStyle/>
          <a:p>
            <a:pPr indent="0" marL="0">
              <a:buNone/>
            </a:pPr>
            <a:r>
              <a:rPr lang="en-US" sz="1200" b="1" spc="100" kern="0" dirty="0">
                <a:solidFill>
                  <a:schemeClr val="accent3"/>
                </a:solidFill>
                <a:latin typeface="Calibri" pitchFamily="34" charset="0"/>
                <a:ea typeface="Calibri" pitchFamily="34" charset="-122"/>
                <a:cs typeface="Calibri" pitchFamily="34" charset="-120"/>
              </a:rPr>
              <a:t>REMAINING — TOWARD THE FINAL REPORT</a:t>
            </a:r>
            <a:endParaRPr lang="en-US" sz="1200" dirty="0"/>
          </a:p>
        </p:txBody>
      </p:sp>
      <p:sp>
        <p:nvSpPr>
          <p:cNvPr id="14" name="num0"/>
          <p:cNvSpPr/>
          <p:nvPr/>
        </p:nvSpPr>
        <p:spPr>
          <a:xfrm>
            <a:off x="4736592" y="1417320"/>
            <a:ext cx="292608" cy="292608"/>
          </a:xfrm>
          <a:prstGeom prst="ellipse">
            <a:avLst/>
          </a:prstGeom>
          <a:solidFill>
            <a:schemeClr val="accent3"/>
          </a:solidFill>
          <a:ln/>
        </p:spPr>
      </p:sp>
      <p:sp>
        <p:nvSpPr>
          <p:cNvPr id="15" name="t233"/>
          <p:cNvSpPr txBox="1"/>
          <p:nvPr/>
        </p:nvSpPr>
        <p:spPr>
          <a:xfrm>
            <a:off x="4736592" y="1417320"/>
            <a:ext cx="292608" cy="292608"/>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1</a:t>
            </a:r>
            <a:endParaRPr lang="en-US" sz="1200" dirty="0"/>
          </a:p>
        </p:txBody>
      </p:sp>
      <p:sp>
        <p:nvSpPr>
          <p:cNvPr id="16" name="t234"/>
          <p:cNvSpPr txBox="1"/>
          <p:nvPr/>
        </p:nvSpPr>
        <p:spPr>
          <a:xfrm>
            <a:off x="5166360" y="1389888"/>
            <a:ext cx="3566160" cy="347472"/>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Fair CPU baseline, same measurement boundary</a:t>
            </a:r>
            <a:endParaRPr lang="en-US" sz="1300" dirty="0"/>
          </a:p>
        </p:txBody>
      </p:sp>
      <p:sp>
        <p:nvSpPr>
          <p:cNvPr id="17" name="num1"/>
          <p:cNvSpPr/>
          <p:nvPr/>
        </p:nvSpPr>
        <p:spPr>
          <a:xfrm>
            <a:off x="4736592" y="1892808"/>
            <a:ext cx="292608" cy="292608"/>
          </a:xfrm>
          <a:prstGeom prst="ellipse">
            <a:avLst/>
          </a:prstGeom>
          <a:solidFill>
            <a:schemeClr val="accent3"/>
          </a:solidFill>
          <a:ln/>
        </p:spPr>
      </p:sp>
      <p:sp>
        <p:nvSpPr>
          <p:cNvPr id="18" name="t235"/>
          <p:cNvSpPr txBox="1"/>
          <p:nvPr/>
        </p:nvSpPr>
        <p:spPr>
          <a:xfrm>
            <a:off x="4736592" y="1892808"/>
            <a:ext cx="292608" cy="292608"/>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2</a:t>
            </a:r>
            <a:endParaRPr lang="en-US" sz="1200" dirty="0"/>
          </a:p>
        </p:txBody>
      </p:sp>
      <p:sp>
        <p:nvSpPr>
          <p:cNvPr id="19" name="t236"/>
          <p:cNvSpPr txBox="1"/>
          <p:nvPr/>
        </p:nvSpPr>
        <p:spPr>
          <a:xfrm>
            <a:off x="5166360" y="1865376"/>
            <a:ext cx="3566160" cy="347472"/>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Performance breakdown of the 0.750 s</a:t>
            </a:r>
            <a:endParaRPr lang="en-US" sz="1300" dirty="0"/>
          </a:p>
        </p:txBody>
      </p:sp>
      <p:sp>
        <p:nvSpPr>
          <p:cNvPr id="20" name="num2"/>
          <p:cNvSpPr/>
          <p:nvPr/>
        </p:nvSpPr>
        <p:spPr>
          <a:xfrm>
            <a:off x="4736592" y="2368296"/>
            <a:ext cx="292608" cy="292608"/>
          </a:xfrm>
          <a:prstGeom prst="ellipse">
            <a:avLst/>
          </a:prstGeom>
          <a:solidFill>
            <a:schemeClr val="accent3"/>
          </a:solidFill>
          <a:ln/>
        </p:spPr>
      </p:sp>
      <p:sp>
        <p:nvSpPr>
          <p:cNvPr id="21" name="t237"/>
          <p:cNvSpPr txBox="1"/>
          <p:nvPr/>
        </p:nvSpPr>
        <p:spPr>
          <a:xfrm>
            <a:off x="4736592" y="2368296"/>
            <a:ext cx="292608" cy="292608"/>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3</a:t>
            </a:r>
            <a:endParaRPr lang="en-US" sz="1200" dirty="0"/>
          </a:p>
        </p:txBody>
      </p:sp>
      <p:sp>
        <p:nvSpPr>
          <p:cNvPr id="22" name="t238"/>
          <p:cNvSpPr txBox="1"/>
          <p:nvPr/>
        </p:nvSpPr>
        <p:spPr>
          <a:xfrm>
            <a:off x="5166360" y="2340864"/>
            <a:ext cx="3566160" cy="347472"/>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Board validation on more images</a:t>
            </a:r>
            <a:endParaRPr lang="en-US" sz="1300" dirty="0"/>
          </a:p>
        </p:txBody>
      </p:sp>
      <p:sp>
        <p:nvSpPr>
          <p:cNvPr id="23" name="num3"/>
          <p:cNvSpPr/>
          <p:nvPr/>
        </p:nvSpPr>
        <p:spPr>
          <a:xfrm>
            <a:off x="4736592" y="2843784"/>
            <a:ext cx="292608" cy="292608"/>
          </a:xfrm>
          <a:prstGeom prst="ellipse">
            <a:avLst/>
          </a:prstGeom>
          <a:solidFill>
            <a:schemeClr val="accent3"/>
          </a:solidFill>
          <a:ln/>
        </p:spPr>
      </p:sp>
      <p:sp>
        <p:nvSpPr>
          <p:cNvPr id="24" name="t239"/>
          <p:cNvSpPr txBox="1"/>
          <p:nvPr/>
        </p:nvSpPr>
        <p:spPr>
          <a:xfrm>
            <a:off x="4736592" y="2843784"/>
            <a:ext cx="292608" cy="292608"/>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4</a:t>
            </a:r>
            <a:endParaRPr lang="en-US" sz="1200" dirty="0"/>
          </a:p>
        </p:txBody>
      </p:sp>
      <p:sp>
        <p:nvSpPr>
          <p:cNvPr id="25" name="t240"/>
          <p:cNvSpPr txBox="1"/>
          <p:nvPr/>
        </p:nvSpPr>
        <p:spPr>
          <a:xfrm>
            <a:off x="5166360" y="2816352"/>
            <a:ext cx="3566160" cy="347472"/>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Final report</a:t>
            </a:r>
            <a:endParaRPr lang="en-US" sz="1300" dirty="0"/>
          </a:p>
        </p:txBody>
      </p:sp>
      <p:sp>
        <p:nvSpPr>
          <p:cNvPr id="26" name="t241"/>
          <p:cNvSpPr txBox="1"/>
          <p:nvPr/>
        </p:nvSpPr>
        <p:spPr>
          <a:xfrm>
            <a:off x="457200" y="3794760"/>
            <a:ext cx="6400800" cy="822960"/>
          </a:xfrm>
          <a:prstGeom prst="rect">
            <a:avLst/>
          </a:prstGeom>
          <a:noFill/>
          <a:ln/>
        </p:spPr>
        <p:txBody>
          <a:bodyPr wrap="square" lIns="0" tIns="0" rIns="0" bIns="0" rtlCol="0" anchor="ctr"/>
          <a:lstStyle/>
          <a:p>
            <a:pPr indent="0" marL="0">
              <a:buNone/>
            </a:pPr>
            <a:r>
              <a:rPr lang="en-US" sz="1300" b="1" dirty="0">
                <a:solidFill>
                  <a:schemeClr val="accent5"/>
                </a:solidFill>
                <a:latin typeface="Calibri" pitchFamily="34" charset="0"/>
                <a:ea typeface="Calibri" pitchFamily="34" charset="-122"/>
                <a:cs typeface="Calibri" pitchFamily="34" charset="-120"/>
              </a:rPr>
              <a:t>Takeaway  </a:t>
            </a:r>
            <a:pPr indent="0" marL="0">
              <a:buNone/>
            </a:pPr>
            <a:r>
              <a:rPr lang="en-US" sz="1300" dirty="0">
                <a:solidFill>
                  <a:schemeClr val="bg1"/>
                </a:solidFill>
                <a:latin typeface="Calibri" pitchFamily="34" charset="0"/>
                <a:ea typeface="Calibri" pitchFamily="34" charset="-122"/>
                <a:cs typeface="Calibri" pitchFamily="34" charset="-120"/>
              </a:rPr>
              <a:t>Both formats take the same board time; Q20.12 stays far closer to float quality. No CPU speedup is claimed until the fair baseline is measured.</a:t>
            </a:r>
            <a:endParaRPr lang="en-US" sz="1300" dirty="0"/>
          </a:p>
        </p:txBody>
      </p:sp>
      <p:sp>
        <p:nvSpPr>
          <p:cNvPr id="27" name="r242"/>
          <p:cNvSpPr/>
          <p:nvPr/>
        </p:nvSpPr>
        <p:spPr>
          <a:xfrm>
            <a:off x="7086600" y="3858768"/>
            <a:ext cx="1737360" cy="640080"/>
          </a:xfrm>
          <a:prstGeom prst="roundRect">
            <a:avLst>
              <a:gd name="adj" fmla="val 8571"/>
            </a:avLst>
          </a:prstGeom>
          <a:solidFill>
            <a:schemeClr val="accent1"/>
          </a:solidFill>
          <a:ln/>
        </p:spPr>
      </p:sp>
      <p:sp>
        <p:nvSpPr>
          <p:cNvPr id="28" name="t243"/>
          <p:cNvSpPr txBox="1"/>
          <p:nvPr/>
        </p:nvSpPr>
        <p:spPr>
          <a:xfrm>
            <a:off x="7141464" y="3858768"/>
            <a:ext cx="1627632"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Questions?</a:t>
            </a:r>
            <a:endParaRPr lang="en-US" sz="2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KV260 Navy Teal">
  <a:themeElements>
    <a:clrScheme name="KV260 Navy Teal">
      <a:dk1>
        <a:srgbClr val="16202E"/>
      </a:dk1>
      <a:lt1>
        <a:srgbClr val="FFFFFF"/>
      </a:lt1>
      <a:dk2>
        <a:srgbClr val="0B1F3A"/>
      </a:dk2>
      <a:lt2>
        <a:srgbClr val="EAF4F7"/>
      </a:lt2>
      <a:accent1>
        <a:srgbClr val="0E9AAA"/>
      </a:accent1>
      <a:accent2>
        <a:srgbClr val="13355F"/>
      </a:accent2>
      <a:accent3>
        <a:srgbClr val="E39B2D"/>
      </a:accent3>
      <a:accent4>
        <a:srgbClr val="5B6B7F"/>
      </a:accent4>
      <a:accent5>
        <a:srgbClr val="BFE6EB"/>
      </a:accent5>
      <a:accent6>
        <a:srgbClr val="2E7D5B"/>
      </a:accent6>
      <a:hlink>
        <a:srgbClr val="0E9AAA"/>
      </a:hlink>
      <a:folHlink>
        <a:srgbClr val="13355F"/>
      </a:folHlink>
    </a:clrScheme>
    <a:fontScheme name="KV260 Navy Te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FPGA-Accelerated SRCNN on Kria KV260 — Project Status Update</dc:title>
  <dc:subject>PptxGenJS Presentation</dc:subject>
  <dc:creator>Ziye Xiong, Aero Cao</dc:creator>
  <cp:lastModifiedBy>Ziye Xiong, Aero Cao</cp:lastModifiedBy>
  <cp:revision>1</cp:revision>
  <dcterms:created xsi:type="dcterms:W3CDTF">2026-10-11T09:33:11Z</dcterms:created>
  <dcterms:modified xsi:type="dcterms:W3CDTF">2026-10-11T09:33:11Z</dcterms:modified>
</cp:coreProperties>
</file>